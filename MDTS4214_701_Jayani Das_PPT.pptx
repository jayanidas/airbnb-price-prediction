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Merriweather" panose="00000500000000000000" pitchFamily="2"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4.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image" Target="../media/image9.svg"/><Relationship Id="rId4" Type="http://schemas.openxmlformats.org/officeDocument/2006/relationships/hyperlink" Target="https://gamma.app/?utm_source=made-with-gamma" TargetMode="External"/><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1.png"/><Relationship Id="rId7"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14.svg"/><Relationship Id="rId4" Type="http://schemas.openxmlformats.org/officeDocument/2006/relationships/hyperlink" Target="https://gamma.app/?utm_source=made-with-gamma" TargetMode="External"/><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16058359" y="9688982"/>
            <a:ext cx="2143687" cy="512064"/>
            <a:chOff x="0" y="0"/>
            <a:chExt cx="2858249" cy="682752"/>
          </a:xfrm>
        </p:grpSpPr>
        <p:sp>
          <p:nvSpPr>
            <p:cNvPr id="7" name="Freeform 7" descr="preencoded.png">
              <a:hlinkClick r:id="rId4"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5"/>
              <a:stretch>
                <a:fillRect/>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1079744" y="2622347"/>
            <a:ext cx="9270502" cy="2559253"/>
          </a:xfrm>
          <a:prstGeom prst="rect">
            <a:avLst/>
          </a:prstGeom>
        </p:spPr>
        <p:txBody>
          <a:bodyPr lIns="0" tIns="0" rIns="0" bIns="0" rtlCol="0" anchor="t">
            <a:spAutoFit/>
          </a:bodyPr>
          <a:lstStyle/>
          <a:p>
            <a:pPr algn="l">
              <a:lnSpc>
                <a:spcPts val="6600"/>
              </a:lnSpc>
            </a:pPr>
            <a:r>
              <a:rPr lang="en-US" sz="5299" dirty="0">
                <a:solidFill>
                  <a:srgbClr val="F5F0F0"/>
                </a:solidFill>
                <a:latin typeface="Merriweather"/>
                <a:ea typeface="Merriweather"/>
                <a:cs typeface="Merriweather"/>
                <a:sym typeface="Merriweather"/>
              </a:rPr>
              <a:t>Predicting Airbnb Listing Prices Using Regression and Regularization Techniques</a:t>
            </a:r>
          </a:p>
        </p:txBody>
      </p:sp>
      <p:sp>
        <p:nvSpPr>
          <p:cNvPr id="11" name="TextBox 11"/>
          <p:cNvSpPr txBox="1"/>
          <p:nvPr/>
        </p:nvSpPr>
        <p:spPr>
          <a:xfrm>
            <a:off x="1079744" y="6743700"/>
            <a:ext cx="9270502" cy="949519"/>
          </a:xfrm>
          <a:prstGeom prst="rect">
            <a:avLst/>
          </a:prstGeom>
        </p:spPr>
        <p:txBody>
          <a:bodyPr lIns="0" tIns="0" rIns="0" bIns="0" rtlCol="0" anchor="t">
            <a:spAutoFit/>
          </a:bodyPr>
          <a:lstStyle/>
          <a:p>
            <a:pPr algn="l">
              <a:lnSpc>
                <a:spcPts val="3399"/>
              </a:lnSpc>
            </a:pPr>
            <a:r>
              <a:rPr lang="en-US" sz="2100" dirty="0">
                <a:solidFill>
                  <a:srgbClr val="E2E6E9"/>
                </a:solidFill>
                <a:latin typeface="Merriweather"/>
                <a:ea typeface="Merriweather"/>
                <a:cs typeface="Merriweather"/>
                <a:sym typeface="Merriweather"/>
              </a:rPr>
              <a:t>A comprehensive analysis of predictive modeling techniques applied to Airbnb pricing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1062933" y="738188"/>
            <a:ext cx="6643840" cy="849506"/>
          </a:xfrm>
          <a:prstGeom prst="rect">
            <a:avLst/>
          </a:prstGeom>
        </p:spPr>
        <p:txBody>
          <a:bodyPr lIns="0" tIns="0" rIns="0" bIns="0" rtlCol="0" anchor="t">
            <a:spAutoFit/>
          </a:bodyPr>
          <a:lstStyle/>
          <a:p>
            <a:pPr algn="l">
              <a:lnSpc>
                <a:spcPts val="6500"/>
              </a:lnSpc>
            </a:pPr>
            <a:r>
              <a:rPr lang="en-US" sz="5200">
                <a:solidFill>
                  <a:srgbClr val="F5F0F0"/>
                </a:solidFill>
                <a:latin typeface="Merriweather"/>
                <a:ea typeface="Merriweather"/>
                <a:cs typeface="Merriweather"/>
                <a:sym typeface="Merriweather"/>
              </a:rPr>
              <a:t>Project Overview</a:t>
            </a:r>
          </a:p>
        </p:txBody>
      </p:sp>
      <p:sp>
        <p:nvSpPr>
          <p:cNvPr id="7" name="TextBox 7"/>
          <p:cNvSpPr txBox="1"/>
          <p:nvPr/>
        </p:nvSpPr>
        <p:spPr>
          <a:xfrm>
            <a:off x="1062933" y="2222449"/>
            <a:ext cx="3986212" cy="517179"/>
          </a:xfrm>
          <a:prstGeom prst="rect">
            <a:avLst/>
          </a:prstGeom>
        </p:spPr>
        <p:txBody>
          <a:bodyPr lIns="0" tIns="0" rIns="0" bIns="0" rtlCol="0" anchor="t">
            <a:spAutoFit/>
          </a:bodyPr>
          <a:lstStyle/>
          <a:p>
            <a:pPr algn="l">
              <a:lnSpc>
                <a:spcPts val="3900"/>
              </a:lnSpc>
            </a:pPr>
            <a:r>
              <a:rPr lang="en-US" sz="3099">
                <a:solidFill>
                  <a:srgbClr val="F5F0F0"/>
                </a:solidFill>
                <a:latin typeface="Merriweather"/>
                <a:ea typeface="Merriweather"/>
                <a:cs typeface="Merriweather"/>
                <a:sym typeface="Merriweather"/>
              </a:rPr>
              <a:t>Objective</a:t>
            </a:r>
          </a:p>
        </p:txBody>
      </p:sp>
      <p:sp>
        <p:nvSpPr>
          <p:cNvPr id="8" name="TextBox 8"/>
          <p:cNvSpPr txBox="1"/>
          <p:nvPr/>
        </p:nvSpPr>
        <p:spPr>
          <a:xfrm>
            <a:off x="1062933" y="2905868"/>
            <a:ext cx="9437932" cy="1782956"/>
          </a:xfrm>
          <a:prstGeom prst="rect">
            <a:avLst/>
          </a:prstGeom>
        </p:spPr>
        <p:txBody>
          <a:bodyPr lIns="0" tIns="0" rIns="0" bIns="0" rtlCol="0" anchor="t">
            <a:spAutoFit/>
          </a:bodyPr>
          <a:lstStyle/>
          <a:p>
            <a:pPr algn="l">
              <a:lnSpc>
                <a:spcPts val="3300"/>
              </a:lnSpc>
            </a:pPr>
            <a:r>
              <a:rPr lang="en-US" sz="2000">
                <a:solidFill>
                  <a:srgbClr val="E2E6E9"/>
                </a:solidFill>
                <a:latin typeface="Merriweather"/>
                <a:ea typeface="Merriweather"/>
                <a:cs typeface="Merriweather"/>
                <a:sym typeface="Merriweather"/>
              </a:rPr>
              <a:t>This project develops predictive models to estimate Airbnb listing prices using statistical and machine learning techniques. The analysis focuses on building regression models that can accurately predict prices based on property characteristics, location data, and socio-economic indicators.</a:t>
            </a:r>
          </a:p>
        </p:txBody>
      </p:sp>
      <p:sp>
        <p:nvSpPr>
          <p:cNvPr id="9" name="TextBox 9"/>
          <p:cNvSpPr txBox="1"/>
          <p:nvPr/>
        </p:nvSpPr>
        <p:spPr>
          <a:xfrm>
            <a:off x="1062933" y="4828880"/>
            <a:ext cx="9437932" cy="1361037"/>
          </a:xfrm>
          <a:prstGeom prst="rect">
            <a:avLst/>
          </a:prstGeom>
        </p:spPr>
        <p:txBody>
          <a:bodyPr lIns="0" tIns="0" rIns="0" bIns="0" rtlCol="0" anchor="t">
            <a:spAutoFit/>
          </a:bodyPr>
          <a:lstStyle/>
          <a:p>
            <a:pPr algn="l">
              <a:lnSpc>
                <a:spcPts val="3300"/>
              </a:lnSpc>
            </a:pPr>
            <a:r>
              <a:rPr lang="en-US" sz="2000">
                <a:solidFill>
                  <a:srgbClr val="E2E6E9"/>
                </a:solidFill>
                <a:latin typeface="Merriweather"/>
                <a:ea typeface="Merriweather"/>
                <a:cs typeface="Merriweather"/>
                <a:sym typeface="Merriweather"/>
              </a:rPr>
              <a:t>As a prognostic model, this approach predicts future or unseen observations, making it valuable for both hosts setting competitive prices and customers evaluating fair market rates.</a:t>
            </a:r>
          </a:p>
        </p:txBody>
      </p:sp>
      <p:sp>
        <p:nvSpPr>
          <p:cNvPr id="10" name="TextBox 10"/>
          <p:cNvSpPr txBox="1"/>
          <p:nvPr/>
        </p:nvSpPr>
        <p:spPr>
          <a:xfrm>
            <a:off x="11158690" y="2222449"/>
            <a:ext cx="3986212" cy="517179"/>
          </a:xfrm>
          <a:prstGeom prst="rect">
            <a:avLst/>
          </a:prstGeom>
        </p:spPr>
        <p:txBody>
          <a:bodyPr lIns="0" tIns="0" rIns="0" bIns="0" rtlCol="0" anchor="t">
            <a:spAutoFit/>
          </a:bodyPr>
          <a:lstStyle/>
          <a:p>
            <a:pPr algn="l">
              <a:lnSpc>
                <a:spcPts val="3900"/>
              </a:lnSpc>
            </a:pPr>
            <a:r>
              <a:rPr lang="en-US" sz="3099">
                <a:solidFill>
                  <a:srgbClr val="F5F0F0"/>
                </a:solidFill>
                <a:latin typeface="Merriweather"/>
                <a:ea typeface="Merriweather"/>
                <a:cs typeface="Merriweather"/>
                <a:sym typeface="Merriweather"/>
              </a:rPr>
              <a:t>Key Goals</a:t>
            </a:r>
          </a:p>
        </p:txBody>
      </p:sp>
      <p:sp>
        <p:nvSpPr>
          <p:cNvPr id="11" name="TextBox 11"/>
          <p:cNvSpPr txBox="1"/>
          <p:nvPr/>
        </p:nvSpPr>
        <p:spPr>
          <a:xfrm>
            <a:off x="11158690" y="2905868"/>
            <a:ext cx="6075759" cy="2479472"/>
          </a:xfrm>
          <a:prstGeom prst="rect">
            <a:avLst/>
          </a:prstGeom>
        </p:spPr>
        <p:txBody>
          <a:bodyPr lIns="0" tIns="0" rIns="0" bIns="0" rtlCol="0" anchor="t">
            <a:spAutoFit/>
          </a:bodyPr>
          <a:lstStyle/>
          <a:p>
            <a:pPr marL="482600" lvl="1" indent="-241300" algn="l">
              <a:lnSpc>
                <a:spcPts val="3300"/>
              </a:lnSpc>
              <a:buFont typeface="Arial"/>
              <a:buChar char="•"/>
            </a:pPr>
            <a:r>
              <a:rPr lang="en-US" sz="2000">
                <a:solidFill>
                  <a:srgbClr val="E2E6E9"/>
                </a:solidFill>
                <a:latin typeface="Merriweather"/>
                <a:ea typeface="Merriweather"/>
                <a:cs typeface="Merriweather"/>
                <a:sym typeface="Merriweather"/>
              </a:rPr>
              <a:t>Build predictive models for Airbnb prices</a:t>
            </a:r>
          </a:p>
          <a:p>
            <a:pPr marL="482600" lvl="1" indent="-241300" algn="l">
              <a:lnSpc>
                <a:spcPts val="3300"/>
              </a:lnSpc>
              <a:buFont typeface="Arial"/>
              <a:buChar char="•"/>
            </a:pPr>
            <a:r>
              <a:rPr lang="en-US" sz="2000">
                <a:solidFill>
                  <a:srgbClr val="E2E6E9"/>
                </a:solidFill>
                <a:latin typeface="Merriweather"/>
                <a:ea typeface="Merriweather"/>
                <a:cs typeface="Merriweather"/>
                <a:sym typeface="Merriweather"/>
              </a:rPr>
              <a:t>Analyze impact of various factors on pricing</a:t>
            </a:r>
          </a:p>
          <a:p>
            <a:pPr marL="482600" lvl="1" indent="-241300" algn="l">
              <a:lnSpc>
                <a:spcPts val="3300"/>
              </a:lnSpc>
              <a:buFont typeface="Arial"/>
              <a:buChar char="•"/>
            </a:pPr>
            <a:r>
              <a:rPr lang="en-US" sz="2000">
                <a:solidFill>
                  <a:srgbClr val="E2E6E9"/>
                </a:solidFill>
                <a:latin typeface="Merriweather"/>
                <a:ea typeface="Merriweather"/>
                <a:cs typeface="Merriweather"/>
                <a:sym typeface="Merriweather"/>
              </a:rPr>
              <a:t>Compare regression and regularization techniques</a:t>
            </a:r>
          </a:p>
          <a:p>
            <a:pPr marL="482600" lvl="1" indent="-241300" algn="l">
              <a:lnSpc>
                <a:spcPts val="3300"/>
              </a:lnSpc>
              <a:buFont typeface="Arial"/>
              <a:buChar char="•"/>
            </a:pPr>
            <a:r>
              <a:rPr lang="en-US" sz="2000">
                <a:solidFill>
                  <a:srgbClr val="E2E6E9"/>
                </a:solidFill>
                <a:latin typeface="Merriweather"/>
                <a:ea typeface="Merriweather"/>
                <a:cs typeface="Merriweather"/>
                <a:sym typeface="Merriweather"/>
              </a:rPr>
              <a:t>Identify best performing model</a:t>
            </a:r>
          </a:p>
        </p:txBody>
      </p:sp>
      <p:grpSp>
        <p:nvGrpSpPr>
          <p:cNvPr id="12" name="Group 12"/>
          <p:cNvGrpSpPr/>
          <p:nvPr/>
        </p:nvGrpSpPr>
        <p:grpSpPr>
          <a:xfrm>
            <a:off x="1058170" y="6714677"/>
            <a:ext cx="5222529" cy="2819695"/>
            <a:chOff x="0" y="0"/>
            <a:chExt cx="6963372" cy="3759594"/>
          </a:xfrm>
        </p:grpSpPr>
        <p:sp>
          <p:nvSpPr>
            <p:cNvPr id="13" name="Freeform 13"/>
            <p:cNvSpPr/>
            <p:nvPr/>
          </p:nvSpPr>
          <p:spPr>
            <a:xfrm>
              <a:off x="0" y="0"/>
              <a:ext cx="6963410" cy="3759581"/>
            </a:xfrm>
            <a:custGeom>
              <a:avLst/>
              <a:gdLst/>
              <a:ahLst/>
              <a:cxnLst/>
              <a:rect l="l" t="t" r="r" b="b"/>
              <a:pathLst>
                <a:path w="6963410" h="3759581">
                  <a:moveTo>
                    <a:pt x="0" y="149352"/>
                  </a:moveTo>
                  <a:cubicBezTo>
                    <a:pt x="0" y="66802"/>
                    <a:pt x="66802" y="0"/>
                    <a:pt x="149352" y="0"/>
                  </a:cubicBezTo>
                  <a:lnTo>
                    <a:pt x="6814058" y="0"/>
                  </a:lnTo>
                  <a:cubicBezTo>
                    <a:pt x="6896481" y="0"/>
                    <a:pt x="6963410" y="66802"/>
                    <a:pt x="6963410" y="149352"/>
                  </a:cubicBezTo>
                  <a:lnTo>
                    <a:pt x="6963410" y="3610229"/>
                  </a:lnTo>
                  <a:cubicBezTo>
                    <a:pt x="6963410" y="3692652"/>
                    <a:pt x="6896608" y="3759581"/>
                    <a:pt x="6814058" y="3759581"/>
                  </a:cubicBezTo>
                  <a:lnTo>
                    <a:pt x="149352" y="3759581"/>
                  </a:lnTo>
                  <a:cubicBezTo>
                    <a:pt x="66802" y="3759581"/>
                    <a:pt x="0" y="3692779"/>
                    <a:pt x="0" y="3610229"/>
                  </a:cubicBezTo>
                  <a:close/>
                </a:path>
              </a:pathLst>
            </a:custGeom>
            <a:solidFill>
              <a:srgbClr val="003180"/>
            </a:solidFill>
            <a:ln w="9526" cap="sq">
              <a:solidFill>
                <a:srgbClr val="194A99"/>
              </a:solidFill>
              <a:prstDash val="solid"/>
              <a:miter/>
            </a:ln>
          </p:spPr>
        </p:sp>
      </p:grpSp>
      <p:sp>
        <p:nvSpPr>
          <p:cNvPr id="14" name="TextBox 14"/>
          <p:cNvSpPr txBox="1"/>
          <p:nvPr/>
        </p:nvSpPr>
        <p:spPr>
          <a:xfrm>
            <a:off x="1338110" y="6994627"/>
            <a:ext cx="3321844" cy="415233"/>
          </a:xfrm>
          <a:prstGeom prst="rect">
            <a:avLst/>
          </a:prstGeom>
        </p:spPr>
        <p:txBody>
          <a:bodyPr lIns="0" tIns="0" rIns="0" bIns="0" rtlCol="0" anchor="t">
            <a:spAutoFit/>
          </a:bodyPr>
          <a:lstStyle/>
          <a:p>
            <a:pPr algn="l">
              <a:lnSpc>
                <a:spcPts val="3199"/>
              </a:lnSpc>
            </a:pPr>
            <a:r>
              <a:rPr lang="en-US" sz="2600">
                <a:solidFill>
                  <a:srgbClr val="E2E6E9"/>
                </a:solidFill>
                <a:latin typeface="Merriweather"/>
                <a:ea typeface="Merriweather"/>
                <a:cs typeface="Merriweather"/>
                <a:sym typeface="Merriweather"/>
              </a:rPr>
              <a:t>Model Type</a:t>
            </a:r>
          </a:p>
        </p:txBody>
      </p:sp>
      <p:sp>
        <p:nvSpPr>
          <p:cNvPr id="15" name="TextBox 15"/>
          <p:cNvSpPr txBox="1"/>
          <p:nvPr/>
        </p:nvSpPr>
        <p:spPr>
          <a:xfrm>
            <a:off x="1338110" y="7471467"/>
            <a:ext cx="4662640" cy="939108"/>
          </a:xfrm>
          <a:prstGeom prst="rect">
            <a:avLst/>
          </a:prstGeom>
        </p:spPr>
        <p:txBody>
          <a:bodyPr lIns="0" tIns="0" rIns="0" bIns="0" rtlCol="0" anchor="t">
            <a:spAutoFit/>
          </a:bodyPr>
          <a:lstStyle/>
          <a:p>
            <a:pPr algn="l">
              <a:lnSpc>
                <a:spcPts val="3300"/>
              </a:lnSpc>
            </a:pPr>
            <a:r>
              <a:rPr lang="en-US" sz="2000">
                <a:solidFill>
                  <a:srgbClr val="E2E6E9"/>
                </a:solidFill>
                <a:latin typeface="Merriweather"/>
                <a:ea typeface="Merriweather"/>
                <a:cs typeface="Merriweather"/>
                <a:sym typeface="Merriweather"/>
              </a:rPr>
              <a:t>Regression problem with continuous response variable</a:t>
            </a:r>
          </a:p>
        </p:txBody>
      </p:sp>
      <p:grpSp>
        <p:nvGrpSpPr>
          <p:cNvPr id="16" name="Group 16"/>
          <p:cNvGrpSpPr/>
          <p:nvPr/>
        </p:nvGrpSpPr>
        <p:grpSpPr>
          <a:xfrm>
            <a:off x="6545428" y="6665866"/>
            <a:ext cx="5222529" cy="2819695"/>
            <a:chOff x="0" y="0"/>
            <a:chExt cx="6963372" cy="3759594"/>
          </a:xfrm>
        </p:grpSpPr>
        <p:sp>
          <p:nvSpPr>
            <p:cNvPr id="17" name="Freeform 17"/>
            <p:cNvSpPr/>
            <p:nvPr/>
          </p:nvSpPr>
          <p:spPr>
            <a:xfrm>
              <a:off x="0" y="0"/>
              <a:ext cx="6963410" cy="3759581"/>
            </a:xfrm>
            <a:custGeom>
              <a:avLst/>
              <a:gdLst/>
              <a:ahLst/>
              <a:cxnLst/>
              <a:rect l="l" t="t" r="r" b="b"/>
              <a:pathLst>
                <a:path w="6963410" h="3759581">
                  <a:moveTo>
                    <a:pt x="0" y="149352"/>
                  </a:moveTo>
                  <a:cubicBezTo>
                    <a:pt x="0" y="66802"/>
                    <a:pt x="66802" y="0"/>
                    <a:pt x="149352" y="0"/>
                  </a:cubicBezTo>
                  <a:lnTo>
                    <a:pt x="6814058" y="0"/>
                  </a:lnTo>
                  <a:cubicBezTo>
                    <a:pt x="6896481" y="0"/>
                    <a:pt x="6963410" y="66802"/>
                    <a:pt x="6963410" y="149352"/>
                  </a:cubicBezTo>
                  <a:lnTo>
                    <a:pt x="6963410" y="3610229"/>
                  </a:lnTo>
                  <a:cubicBezTo>
                    <a:pt x="6963410" y="3692652"/>
                    <a:pt x="6896608" y="3759581"/>
                    <a:pt x="6814058" y="3759581"/>
                  </a:cubicBezTo>
                  <a:lnTo>
                    <a:pt x="149352" y="3759581"/>
                  </a:lnTo>
                  <a:cubicBezTo>
                    <a:pt x="66802" y="3759581"/>
                    <a:pt x="0" y="3692779"/>
                    <a:pt x="0" y="3610229"/>
                  </a:cubicBezTo>
                  <a:close/>
                </a:path>
              </a:pathLst>
            </a:custGeom>
            <a:solidFill>
              <a:srgbClr val="003180"/>
            </a:solidFill>
            <a:ln w="9526" cap="sq">
              <a:solidFill>
                <a:srgbClr val="194A99"/>
              </a:solidFill>
              <a:prstDash val="solid"/>
              <a:miter/>
            </a:ln>
          </p:spPr>
        </p:sp>
      </p:grpSp>
      <p:sp>
        <p:nvSpPr>
          <p:cNvPr id="18" name="TextBox 18"/>
          <p:cNvSpPr txBox="1"/>
          <p:nvPr/>
        </p:nvSpPr>
        <p:spPr>
          <a:xfrm>
            <a:off x="6812604" y="6994627"/>
            <a:ext cx="6446196" cy="394660"/>
          </a:xfrm>
          <a:prstGeom prst="rect">
            <a:avLst/>
          </a:prstGeom>
        </p:spPr>
        <p:txBody>
          <a:bodyPr wrap="square" lIns="0" tIns="0" rIns="0" bIns="0" rtlCol="0" anchor="t">
            <a:spAutoFit/>
          </a:bodyPr>
          <a:lstStyle/>
          <a:p>
            <a:pPr algn="l">
              <a:lnSpc>
                <a:spcPts val="3199"/>
              </a:lnSpc>
            </a:pPr>
            <a:r>
              <a:rPr lang="en-US" sz="2600" dirty="0">
                <a:solidFill>
                  <a:srgbClr val="E2E6E9"/>
                </a:solidFill>
                <a:latin typeface="Merriweather"/>
                <a:ea typeface="Merriweather"/>
                <a:cs typeface="Merriweather"/>
                <a:sym typeface="Merriweather"/>
              </a:rPr>
              <a:t>Bias-Variance Tradeoff</a:t>
            </a:r>
          </a:p>
        </p:txBody>
      </p:sp>
      <p:sp>
        <p:nvSpPr>
          <p:cNvPr id="19" name="TextBox 19"/>
          <p:cNvSpPr txBox="1"/>
          <p:nvPr/>
        </p:nvSpPr>
        <p:spPr>
          <a:xfrm>
            <a:off x="6812604" y="7431432"/>
            <a:ext cx="4617396" cy="1653786"/>
          </a:xfrm>
          <a:prstGeom prst="rect">
            <a:avLst/>
          </a:prstGeom>
        </p:spPr>
        <p:txBody>
          <a:bodyPr wrap="square" lIns="0" tIns="0" rIns="0" bIns="0" rtlCol="0" anchor="t">
            <a:spAutoFit/>
          </a:bodyPr>
          <a:lstStyle/>
          <a:p>
            <a:pPr algn="l">
              <a:lnSpc>
                <a:spcPts val="3300"/>
              </a:lnSpc>
            </a:pPr>
            <a:r>
              <a:rPr lang="en-US" sz="2000" dirty="0">
                <a:solidFill>
                  <a:srgbClr val="E2E6E9"/>
                </a:solidFill>
                <a:latin typeface="Merriweather"/>
                <a:ea typeface="Merriweather"/>
                <a:cs typeface="Merriweather"/>
                <a:sym typeface="Merriweather"/>
              </a:rPr>
              <a:t>Balance between simple models (high bias, low variance) and complex models (low bias, high variance)</a:t>
            </a:r>
          </a:p>
        </p:txBody>
      </p:sp>
      <p:grpSp>
        <p:nvGrpSpPr>
          <p:cNvPr id="20" name="Group 20"/>
          <p:cNvGrpSpPr/>
          <p:nvPr/>
        </p:nvGrpSpPr>
        <p:grpSpPr>
          <a:xfrm>
            <a:off x="11976821" y="6737537"/>
            <a:ext cx="5222529" cy="2819695"/>
            <a:chOff x="0" y="0"/>
            <a:chExt cx="6963372" cy="3759594"/>
          </a:xfrm>
        </p:grpSpPr>
        <p:sp>
          <p:nvSpPr>
            <p:cNvPr id="21" name="Freeform 21"/>
            <p:cNvSpPr/>
            <p:nvPr/>
          </p:nvSpPr>
          <p:spPr>
            <a:xfrm>
              <a:off x="0" y="0"/>
              <a:ext cx="6963410" cy="3759581"/>
            </a:xfrm>
            <a:custGeom>
              <a:avLst/>
              <a:gdLst/>
              <a:ahLst/>
              <a:cxnLst/>
              <a:rect l="l" t="t" r="r" b="b"/>
              <a:pathLst>
                <a:path w="6963410" h="3759581">
                  <a:moveTo>
                    <a:pt x="0" y="149352"/>
                  </a:moveTo>
                  <a:cubicBezTo>
                    <a:pt x="0" y="66802"/>
                    <a:pt x="66802" y="0"/>
                    <a:pt x="149352" y="0"/>
                  </a:cubicBezTo>
                  <a:lnTo>
                    <a:pt x="6814058" y="0"/>
                  </a:lnTo>
                  <a:cubicBezTo>
                    <a:pt x="6896481" y="0"/>
                    <a:pt x="6963410" y="66802"/>
                    <a:pt x="6963410" y="149352"/>
                  </a:cubicBezTo>
                  <a:lnTo>
                    <a:pt x="6963410" y="3610229"/>
                  </a:lnTo>
                  <a:cubicBezTo>
                    <a:pt x="6963410" y="3692652"/>
                    <a:pt x="6896608" y="3759581"/>
                    <a:pt x="6814058" y="3759581"/>
                  </a:cubicBezTo>
                  <a:lnTo>
                    <a:pt x="149352" y="3759581"/>
                  </a:lnTo>
                  <a:cubicBezTo>
                    <a:pt x="66802" y="3759581"/>
                    <a:pt x="0" y="3692779"/>
                    <a:pt x="0" y="3610229"/>
                  </a:cubicBezTo>
                  <a:close/>
                </a:path>
              </a:pathLst>
            </a:custGeom>
            <a:solidFill>
              <a:srgbClr val="003180"/>
            </a:solidFill>
            <a:ln w="9526" cap="sq">
              <a:solidFill>
                <a:srgbClr val="194A99"/>
              </a:solidFill>
              <a:prstDash val="solid"/>
              <a:miter/>
            </a:ln>
          </p:spPr>
        </p:sp>
      </p:grpSp>
      <p:sp>
        <p:nvSpPr>
          <p:cNvPr id="22" name="TextBox 22"/>
          <p:cNvSpPr txBox="1"/>
          <p:nvPr/>
        </p:nvSpPr>
        <p:spPr>
          <a:xfrm>
            <a:off x="12287098" y="6994627"/>
            <a:ext cx="3321844" cy="415233"/>
          </a:xfrm>
          <a:prstGeom prst="rect">
            <a:avLst/>
          </a:prstGeom>
        </p:spPr>
        <p:txBody>
          <a:bodyPr lIns="0" tIns="0" rIns="0" bIns="0" rtlCol="0" anchor="t">
            <a:spAutoFit/>
          </a:bodyPr>
          <a:lstStyle/>
          <a:p>
            <a:pPr algn="l">
              <a:lnSpc>
                <a:spcPts val="3199"/>
              </a:lnSpc>
            </a:pPr>
            <a:r>
              <a:rPr lang="en-US" sz="2600">
                <a:solidFill>
                  <a:srgbClr val="E2E6E9"/>
                </a:solidFill>
                <a:latin typeface="Merriweather"/>
                <a:ea typeface="Merriweather"/>
                <a:cs typeface="Merriweather"/>
                <a:sym typeface="Merriweather"/>
              </a:rPr>
              <a:t>Validation</a:t>
            </a:r>
          </a:p>
        </p:txBody>
      </p:sp>
      <p:sp>
        <p:nvSpPr>
          <p:cNvPr id="23" name="TextBox 23"/>
          <p:cNvSpPr txBox="1"/>
          <p:nvPr/>
        </p:nvSpPr>
        <p:spPr>
          <a:xfrm>
            <a:off x="12287098" y="7471467"/>
            <a:ext cx="4662640" cy="939108"/>
          </a:xfrm>
          <a:prstGeom prst="rect">
            <a:avLst/>
          </a:prstGeom>
        </p:spPr>
        <p:txBody>
          <a:bodyPr lIns="0" tIns="0" rIns="0" bIns="0" rtlCol="0" anchor="t">
            <a:spAutoFit/>
          </a:bodyPr>
          <a:lstStyle/>
          <a:p>
            <a:pPr algn="l">
              <a:lnSpc>
                <a:spcPts val="3300"/>
              </a:lnSpc>
            </a:pPr>
            <a:r>
              <a:rPr lang="en-US" sz="2000">
                <a:solidFill>
                  <a:srgbClr val="E2E6E9"/>
                </a:solidFill>
                <a:latin typeface="Merriweather"/>
                <a:ea typeface="Merriweather"/>
                <a:cs typeface="Merriweather"/>
                <a:sym typeface="Merriweather"/>
              </a:rPr>
              <a:t>Training set (70%) and testing set (30%) with stratified sampling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16058359" y="9688982"/>
            <a:ext cx="2143687" cy="512064"/>
            <a:chOff x="0" y="0"/>
            <a:chExt cx="2858249" cy="682752"/>
          </a:xfrm>
        </p:grpSpPr>
        <p:sp>
          <p:nvSpPr>
            <p:cNvPr id="7" name="Freeform 7" descr="preencoded.png">
              <a:hlinkClick r:id="rId4"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5"/>
              <a:stretch>
                <a:fillRect/>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809777" y="661987"/>
            <a:ext cx="5061937" cy="661245"/>
          </a:xfrm>
          <a:prstGeom prst="rect">
            <a:avLst/>
          </a:prstGeom>
        </p:spPr>
        <p:txBody>
          <a:bodyPr lIns="0" tIns="0" rIns="0" bIns="0" rtlCol="0" anchor="t">
            <a:spAutoFit/>
          </a:bodyPr>
          <a:lstStyle/>
          <a:p>
            <a:pPr algn="l">
              <a:lnSpc>
                <a:spcPts val="4900"/>
              </a:lnSpc>
            </a:pPr>
            <a:r>
              <a:rPr lang="en-US" sz="3900">
                <a:solidFill>
                  <a:srgbClr val="F5F0F0"/>
                </a:solidFill>
                <a:latin typeface="Merriweather"/>
                <a:ea typeface="Merriweather"/>
                <a:cs typeface="Merriweather"/>
                <a:sym typeface="Merriweather"/>
              </a:rPr>
              <a:t>Data Description</a:t>
            </a:r>
          </a:p>
        </p:txBody>
      </p:sp>
      <p:sp>
        <p:nvSpPr>
          <p:cNvPr id="11" name="TextBox 11"/>
          <p:cNvSpPr txBox="1"/>
          <p:nvPr/>
        </p:nvSpPr>
        <p:spPr>
          <a:xfrm>
            <a:off x="809777" y="1512837"/>
            <a:ext cx="9810455" cy="888206"/>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The dataset consists of 51,707 Airbnb listings with multiple features related to property characteristics, location, and socio-economic indicators. The response variable is log-transformed listing price, while predictors include both quantitative and categorical variables.</a:t>
            </a:r>
          </a:p>
        </p:txBody>
      </p:sp>
      <p:sp>
        <p:nvSpPr>
          <p:cNvPr id="12" name="Freeform 12" descr="preencoded.png"/>
          <p:cNvSpPr/>
          <p:nvPr/>
        </p:nvSpPr>
        <p:spPr>
          <a:xfrm>
            <a:off x="809777" y="2571750"/>
            <a:ext cx="506168" cy="506168"/>
          </a:xfrm>
          <a:custGeom>
            <a:avLst/>
            <a:gdLst/>
            <a:ahLst/>
            <a:cxnLst/>
            <a:rect l="l" t="t" r="r" b="b"/>
            <a:pathLst>
              <a:path w="506168" h="506168">
                <a:moveTo>
                  <a:pt x="0" y="0"/>
                </a:moveTo>
                <a:lnTo>
                  <a:pt x="506168" y="0"/>
                </a:lnTo>
                <a:lnTo>
                  <a:pt x="506168" y="506168"/>
                </a:lnTo>
                <a:lnTo>
                  <a:pt x="0" y="506168"/>
                </a:lnTo>
                <a:lnTo>
                  <a:pt x="0" y="0"/>
                </a:lnTo>
                <a:close/>
              </a:path>
            </a:pathLst>
          </a:custGeom>
          <a:blipFill>
            <a:blip>
              <a:extLst>
                <a:ext uri="{96DAC541-7B7A-43D3-8B79-37D633B846F1}">
                  <asvg:svgBlip xmlns:asvg="http://schemas.microsoft.com/office/drawing/2016/SVG/main" r:embed="rId7"/>
                </a:ext>
              </a:extLst>
            </a:blip>
            <a:stretch>
              <a:fillRect t="-925" b="-925"/>
            </a:stretch>
          </a:blipFill>
        </p:spPr>
      </p:sp>
      <p:sp>
        <p:nvSpPr>
          <p:cNvPr id="13" name="TextBox 13"/>
          <p:cNvSpPr txBox="1"/>
          <p:nvPr/>
        </p:nvSpPr>
        <p:spPr>
          <a:xfrm>
            <a:off x="809777" y="3248616"/>
            <a:ext cx="2955284" cy="335461"/>
          </a:xfrm>
          <a:prstGeom prst="rect">
            <a:avLst/>
          </a:prstGeom>
        </p:spPr>
        <p:txBody>
          <a:bodyPr lIns="0" tIns="0" rIns="0" bIns="0" rtlCol="0" anchor="t">
            <a:spAutoFit/>
          </a:bodyPr>
          <a:lstStyle/>
          <a:p>
            <a:pPr algn="l">
              <a:lnSpc>
                <a:spcPts val="2400"/>
              </a:lnSpc>
            </a:pPr>
            <a:r>
              <a:rPr lang="en-US" sz="1900">
                <a:solidFill>
                  <a:srgbClr val="E2E6E9"/>
                </a:solidFill>
                <a:latin typeface="Merriweather"/>
                <a:ea typeface="Merriweather"/>
                <a:cs typeface="Merriweather"/>
                <a:sym typeface="Merriweather"/>
              </a:rPr>
              <a:t>Property Characteristics</a:t>
            </a:r>
          </a:p>
        </p:txBody>
      </p:sp>
      <p:sp>
        <p:nvSpPr>
          <p:cNvPr id="14" name="TextBox 14"/>
          <p:cNvSpPr txBox="1"/>
          <p:nvPr/>
        </p:nvSpPr>
        <p:spPr>
          <a:xfrm>
            <a:off x="809777" y="3637064"/>
            <a:ext cx="9810455" cy="604838"/>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Maximum guests, number of bedrooms, cleanliness score, guest satisfaction score, room type classification</a:t>
            </a:r>
          </a:p>
        </p:txBody>
      </p:sp>
      <p:sp>
        <p:nvSpPr>
          <p:cNvPr id="15" name="Freeform 15" descr="preencoded.png"/>
          <p:cNvSpPr/>
          <p:nvPr/>
        </p:nvSpPr>
        <p:spPr>
          <a:xfrm>
            <a:off x="809777" y="4545511"/>
            <a:ext cx="506168" cy="506168"/>
          </a:xfrm>
          <a:custGeom>
            <a:avLst/>
            <a:gdLst/>
            <a:ahLst/>
            <a:cxnLst/>
            <a:rect l="l" t="t" r="r" b="b"/>
            <a:pathLst>
              <a:path w="506168" h="506168">
                <a:moveTo>
                  <a:pt x="0" y="0"/>
                </a:moveTo>
                <a:lnTo>
                  <a:pt x="506168" y="0"/>
                </a:lnTo>
                <a:lnTo>
                  <a:pt x="506168" y="506168"/>
                </a:lnTo>
                <a:lnTo>
                  <a:pt x="0" y="506168"/>
                </a:lnTo>
                <a:lnTo>
                  <a:pt x="0" y="0"/>
                </a:lnTo>
                <a:close/>
              </a:path>
            </a:pathLst>
          </a:custGeom>
          <a:blipFill>
            <a:blip>
              <a:extLst>
                <a:ext uri="{96DAC541-7B7A-43D3-8B79-37D633B846F1}">
                  <asvg:svgBlip xmlns:asvg="http://schemas.microsoft.com/office/drawing/2016/SVG/main" r:embed="rId8"/>
                </a:ext>
              </a:extLst>
            </a:blip>
            <a:stretch>
              <a:fillRect t="-12963" b="-12961"/>
            </a:stretch>
          </a:blipFill>
        </p:spPr>
      </p:sp>
      <p:sp>
        <p:nvSpPr>
          <p:cNvPr id="16" name="TextBox 16"/>
          <p:cNvSpPr txBox="1"/>
          <p:nvPr/>
        </p:nvSpPr>
        <p:spPr>
          <a:xfrm>
            <a:off x="809777" y="5222377"/>
            <a:ext cx="2530973" cy="335461"/>
          </a:xfrm>
          <a:prstGeom prst="rect">
            <a:avLst/>
          </a:prstGeom>
        </p:spPr>
        <p:txBody>
          <a:bodyPr lIns="0" tIns="0" rIns="0" bIns="0" rtlCol="0" anchor="t">
            <a:spAutoFit/>
          </a:bodyPr>
          <a:lstStyle/>
          <a:p>
            <a:pPr algn="l">
              <a:lnSpc>
                <a:spcPts val="2400"/>
              </a:lnSpc>
            </a:pPr>
            <a:r>
              <a:rPr lang="en-US" sz="1900">
                <a:solidFill>
                  <a:srgbClr val="E2E6E9"/>
                </a:solidFill>
                <a:latin typeface="Merriweather"/>
                <a:ea typeface="Merriweather"/>
                <a:cs typeface="Merriweather"/>
                <a:sym typeface="Merriweather"/>
              </a:rPr>
              <a:t>Location Features</a:t>
            </a:r>
          </a:p>
        </p:txBody>
      </p:sp>
      <p:sp>
        <p:nvSpPr>
          <p:cNvPr id="17" name="TextBox 17"/>
          <p:cNvSpPr txBox="1"/>
          <p:nvPr/>
        </p:nvSpPr>
        <p:spPr>
          <a:xfrm>
            <a:off x="809777" y="5610816"/>
            <a:ext cx="9810455" cy="604838"/>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Distance to city center and metro, attraction and restaurant indices, longitude and latitude coordinates</a:t>
            </a:r>
          </a:p>
        </p:txBody>
      </p:sp>
      <p:sp>
        <p:nvSpPr>
          <p:cNvPr id="18" name="Freeform 18" descr="preencoded.png"/>
          <p:cNvSpPr/>
          <p:nvPr/>
        </p:nvSpPr>
        <p:spPr>
          <a:xfrm>
            <a:off x="809777" y="6519272"/>
            <a:ext cx="506168" cy="506168"/>
          </a:xfrm>
          <a:custGeom>
            <a:avLst/>
            <a:gdLst/>
            <a:ahLst/>
            <a:cxnLst/>
            <a:rect l="l" t="t" r="r" b="b"/>
            <a:pathLst>
              <a:path w="506168" h="506168">
                <a:moveTo>
                  <a:pt x="0" y="0"/>
                </a:moveTo>
                <a:lnTo>
                  <a:pt x="506168" y="0"/>
                </a:lnTo>
                <a:lnTo>
                  <a:pt x="506168" y="506168"/>
                </a:lnTo>
                <a:lnTo>
                  <a:pt x="0" y="506168"/>
                </a:lnTo>
                <a:lnTo>
                  <a:pt x="0" y="0"/>
                </a:lnTo>
                <a:close/>
              </a:path>
            </a:pathLst>
          </a:custGeom>
          <a:blipFill>
            <a:blip>
              <a:extLst>
                <a:ext uri="{96DAC541-7B7A-43D3-8B79-37D633B846F1}">
                  <asvg:svgBlip xmlns:asvg="http://schemas.microsoft.com/office/drawing/2016/SVG/main" r:embed="rId9"/>
                </a:ext>
              </a:extLst>
            </a:blip>
            <a:stretch>
              <a:fillRect t="-4629" b="-4629"/>
            </a:stretch>
          </a:blipFill>
        </p:spPr>
      </p:sp>
      <p:sp>
        <p:nvSpPr>
          <p:cNvPr id="19" name="TextBox 19"/>
          <p:cNvSpPr txBox="1"/>
          <p:nvPr/>
        </p:nvSpPr>
        <p:spPr>
          <a:xfrm>
            <a:off x="809777" y="7196138"/>
            <a:ext cx="2530973" cy="335461"/>
          </a:xfrm>
          <a:prstGeom prst="rect">
            <a:avLst/>
          </a:prstGeom>
        </p:spPr>
        <p:txBody>
          <a:bodyPr lIns="0" tIns="0" rIns="0" bIns="0" rtlCol="0" anchor="t">
            <a:spAutoFit/>
          </a:bodyPr>
          <a:lstStyle/>
          <a:p>
            <a:pPr algn="l">
              <a:lnSpc>
                <a:spcPts val="2400"/>
              </a:lnSpc>
            </a:pPr>
            <a:r>
              <a:rPr lang="en-US" sz="1900">
                <a:solidFill>
                  <a:srgbClr val="E2E6E9"/>
                </a:solidFill>
                <a:latin typeface="Merriweather"/>
                <a:ea typeface="Merriweather"/>
                <a:cs typeface="Merriweather"/>
                <a:sym typeface="Merriweather"/>
              </a:rPr>
              <a:t>Geographic Data</a:t>
            </a:r>
          </a:p>
        </p:txBody>
      </p:sp>
      <p:sp>
        <p:nvSpPr>
          <p:cNvPr id="20" name="TextBox 20"/>
          <p:cNvSpPr txBox="1"/>
          <p:nvPr/>
        </p:nvSpPr>
        <p:spPr>
          <a:xfrm>
            <a:off x="809777" y="7584577"/>
            <a:ext cx="9810455"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City, district, state, country codes and names for multi-level geographic classification</a:t>
            </a:r>
          </a:p>
        </p:txBody>
      </p:sp>
      <p:sp>
        <p:nvSpPr>
          <p:cNvPr id="21" name="Freeform 21" descr="preencoded.png"/>
          <p:cNvSpPr/>
          <p:nvPr/>
        </p:nvSpPr>
        <p:spPr>
          <a:xfrm>
            <a:off x="809777" y="8209655"/>
            <a:ext cx="506168" cy="506168"/>
          </a:xfrm>
          <a:custGeom>
            <a:avLst/>
            <a:gdLst/>
            <a:ahLst/>
            <a:cxnLst/>
            <a:rect l="l" t="t" r="r" b="b"/>
            <a:pathLst>
              <a:path w="506168" h="506168">
                <a:moveTo>
                  <a:pt x="0" y="0"/>
                </a:moveTo>
                <a:lnTo>
                  <a:pt x="506168" y="0"/>
                </a:lnTo>
                <a:lnTo>
                  <a:pt x="506168" y="506168"/>
                </a:lnTo>
                <a:lnTo>
                  <a:pt x="0" y="506168"/>
                </a:lnTo>
                <a:lnTo>
                  <a:pt x="0" y="0"/>
                </a:lnTo>
                <a:close/>
              </a:path>
            </a:pathLst>
          </a:custGeom>
          <a:blipFill>
            <a:blip>
              <a:extLst>
                <a:ext uri="{96DAC541-7B7A-43D3-8B79-37D633B846F1}">
                  <asvg:svgBlip xmlns:asvg="http://schemas.microsoft.com/office/drawing/2016/SVG/main" r:embed="rId10"/>
                </a:ext>
              </a:extLst>
            </a:blip>
            <a:stretch>
              <a:fillRect l="-30554" r="-30554"/>
            </a:stretch>
          </a:blipFill>
        </p:spPr>
      </p:sp>
      <p:sp>
        <p:nvSpPr>
          <p:cNvPr id="22" name="TextBox 22"/>
          <p:cNvSpPr txBox="1"/>
          <p:nvPr/>
        </p:nvSpPr>
        <p:spPr>
          <a:xfrm>
            <a:off x="809777" y="8886530"/>
            <a:ext cx="2530973" cy="335461"/>
          </a:xfrm>
          <a:prstGeom prst="rect">
            <a:avLst/>
          </a:prstGeom>
        </p:spPr>
        <p:txBody>
          <a:bodyPr lIns="0" tIns="0" rIns="0" bIns="0" rtlCol="0" anchor="t">
            <a:spAutoFit/>
          </a:bodyPr>
          <a:lstStyle/>
          <a:p>
            <a:pPr algn="l">
              <a:lnSpc>
                <a:spcPts val="2400"/>
              </a:lnSpc>
            </a:pPr>
            <a:r>
              <a:rPr lang="en-US" sz="1900">
                <a:solidFill>
                  <a:srgbClr val="E2E6E9"/>
                </a:solidFill>
                <a:latin typeface="Merriweather"/>
                <a:ea typeface="Merriweather"/>
                <a:cs typeface="Merriweather"/>
                <a:sym typeface="Merriweather"/>
              </a:rPr>
              <a:t>Economic Indicators</a:t>
            </a:r>
          </a:p>
        </p:txBody>
      </p:sp>
      <p:sp>
        <p:nvSpPr>
          <p:cNvPr id="23" name="TextBox 23"/>
          <p:cNvSpPr txBox="1"/>
          <p:nvPr/>
        </p:nvSpPr>
        <p:spPr>
          <a:xfrm>
            <a:off x="809777" y="9274969"/>
            <a:ext cx="9810455"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Crime and safety indices, monthly rent, utilities, average net salary, meal costs, taxi rates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16058359" y="9688982"/>
            <a:ext cx="2143687" cy="512064"/>
            <a:chOff x="0" y="0"/>
            <a:chExt cx="2858249" cy="682752"/>
          </a:xfrm>
        </p:grpSpPr>
        <p:sp>
          <p:nvSpPr>
            <p:cNvPr id="7" name="Freeform 7" descr="preencoded.png">
              <a:hlinkClick r:id="rId4" tooltip="https://gamma.app/?utm_source=made-with-gamma"/>
            </p:cNvPr>
            <p:cNvSpPr/>
            <p:nvPr/>
          </p:nvSpPr>
          <p:spPr>
            <a:xfrm>
              <a:off x="0" y="0"/>
              <a:ext cx="2858262" cy="682752"/>
            </a:xfrm>
            <a:custGeom>
              <a:avLst/>
              <a:gdLst/>
              <a:ahLst/>
              <a:cxnLst/>
              <a:rect l="l" t="t" r="r" b="b"/>
              <a:pathLst>
                <a:path w="2858262" h="682752">
                  <a:moveTo>
                    <a:pt x="0" y="0"/>
                  </a:moveTo>
                  <a:lnTo>
                    <a:pt x="2858262" y="0"/>
                  </a:lnTo>
                  <a:lnTo>
                    <a:pt x="2858262" y="682752"/>
                  </a:lnTo>
                  <a:lnTo>
                    <a:pt x="0" y="682752"/>
                  </a:lnTo>
                  <a:lnTo>
                    <a:pt x="0" y="0"/>
                  </a:lnTo>
                  <a:close/>
                </a:path>
              </a:pathLst>
            </a:custGeom>
            <a:blipFill>
              <a:blip r:embed="rId5"/>
              <a:stretch>
                <a:fillRect/>
              </a:stretch>
            </a:blipFill>
          </p:spPr>
        </p:sp>
      </p:grpSp>
      <p:grpSp>
        <p:nvGrpSpPr>
          <p:cNvPr id="8" name="Group 8"/>
          <p:cNvGrpSpPr/>
          <p:nvPr/>
        </p:nvGrpSpPr>
        <p:grpSpPr>
          <a:xfrm>
            <a:off x="11430000" y="0"/>
            <a:ext cx="6858000" cy="10287000"/>
            <a:chOff x="0" y="0"/>
            <a:chExt cx="9144000" cy="13716000"/>
          </a:xfrm>
        </p:grpSpPr>
        <p:sp>
          <p:nvSpPr>
            <p:cNvPr id="9" name="Freeform 9"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6"/>
              <a:stretch>
                <a:fillRect/>
              </a:stretch>
            </a:blipFill>
          </p:spPr>
        </p:sp>
      </p:grpSp>
      <p:sp>
        <p:nvSpPr>
          <p:cNvPr id="10" name="TextBox 10"/>
          <p:cNvSpPr txBox="1"/>
          <p:nvPr/>
        </p:nvSpPr>
        <p:spPr>
          <a:xfrm>
            <a:off x="877338" y="596503"/>
            <a:ext cx="9257262" cy="653512"/>
          </a:xfrm>
          <a:prstGeom prst="rect">
            <a:avLst/>
          </a:prstGeom>
        </p:spPr>
        <p:txBody>
          <a:bodyPr wrap="square" lIns="0" tIns="0" rIns="0" bIns="0" rtlCol="0" anchor="t">
            <a:spAutoFit/>
          </a:bodyPr>
          <a:lstStyle/>
          <a:p>
            <a:pPr algn="l">
              <a:lnSpc>
                <a:spcPts val="5300"/>
              </a:lnSpc>
            </a:pPr>
            <a:r>
              <a:rPr lang="en-US" sz="4300" dirty="0">
                <a:solidFill>
                  <a:srgbClr val="F5F0F0"/>
                </a:solidFill>
                <a:latin typeface="Merriweather"/>
                <a:ea typeface="Merriweather"/>
                <a:cs typeface="Merriweather"/>
                <a:sym typeface="Merriweather"/>
              </a:rPr>
              <a:t>Data Preprocessing Steps</a:t>
            </a:r>
          </a:p>
        </p:txBody>
      </p:sp>
      <p:grpSp>
        <p:nvGrpSpPr>
          <p:cNvPr id="11" name="Group 11"/>
          <p:cNvGrpSpPr/>
          <p:nvPr/>
        </p:nvGrpSpPr>
        <p:grpSpPr>
          <a:xfrm>
            <a:off x="1091956" y="1892494"/>
            <a:ext cx="228752" cy="1204465"/>
            <a:chOff x="0" y="0"/>
            <a:chExt cx="305003" cy="1605953"/>
          </a:xfrm>
        </p:grpSpPr>
        <p:sp>
          <p:nvSpPr>
            <p:cNvPr id="12" name="Freeform 12"/>
            <p:cNvSpPr/>
            <p:nvPr/>
          </p:nvSpPr>
          <p:spPr>
            <a:xfrm>
              <a:off x="0" y="0"/>
              <a:ext cx="305054" cy="1605915"/>
            </a:xfrm>
            <a:custGeom>
              <a:avLst/>
              <a:gdLst/>
              <a:ahLst/>
              <a:cxnLst/>
              <a:rect l="l" t="t" r="r" b="b"/>
              <a:pathLst>
                <a:path w="305054" h="1605915">
                  <a:moveTo>
                    <a:pt x="0" y="128143"/>
                  </a:moveTo>
                  <a:cubicBezTo>
                    <a:pt x="0" y="57404"/>
                    <a:pt x="57404" y="0"/>
                    <a:pt x="128143" y="0"/>
                  </a:cubicBezTo>
                  <a:lnTo>
                    <a:pt x="176784" y="0"/>
                  </a:lnTo>
                  <a:cubicBezTo>
                    <a:pt x="247650" y="0"/>
                    <a:pt x="305054" y="57404"/>
                    <a:pt x="305054" y="128143"/>
                  </a:cubicBezTo>
                  <a:lnTo>
                    <a:pt x="305054" y="1477772"/>
                  </a:lnTo>
                  <a:cubicBezTo>
                    <a:pt x="305054" y="1548511"/>
                    <a:pt x="247650" y="1605915"/>
                    <a:pt x="176911" y="1605915"/>
                  </a:cubicBezTo>
                  <a:lnTo>
                    <a:pt x="128143" y="1605915"/>
                  </a:lnTo>
                  <a:cubicBezTo>
                    <a:pt x="57404" y="1605915"/>
                    <a:pt x="0" y="1548511"/>
                    <a:pt x="0" y="1477772"/>
                  </a:cubicBezTo>
                  <a:close/>
                </a:path>
              </a:pathLst>
            </a:custGeom>
            <a:solidFill>
              <a:srgbClr val="003180"/>
            </a:solidFill>
            <a:ln w="9526" cap="sq">
              <a:solidFill>
                <a:srgbClr val="194A99"/>
              </a:solidFill>
              <a:prstDash val="solid"/>
              <a:miter/>
            </a:ln>
          </p:spPr>
        </p:sp>
      </p:grpSp>
      <p:grpSp>
        <p:nvGrpSpPr>
          <p:cNvPr id="13" name="Group 13"/>
          <p:cNvGrpSpPr/>
          <p:nvPr/>
        </p:nvGrpSpPr>
        <p:grpSpPr>
          <a:xfrm>
            <a:off x="872576" y="1748580"/>
            <a:ext cx="667493" cy="667493"/>
            <a:chOff x="0" y="0"/>
            <a:chExt cx="889991" cy="889991"/>
          </a:xfrm>
        </p:grpSpPr>
        <p:sp>
          <p:nvSpPr>
            <p:cNvPr id="14" name="Freeform 14"/>
            <p:cNvSpPr/>
            <p:nvPr/>
          </p:nvSpPr>
          <p:spPr>
            <a:xfrm>
              <a:off x="0" y="0"/>
              <a:ext cx="890016" cy="890016"/>
            </a:xfrm>
            <a:custGeom>
              <a:avLst/>
              <a:gdLst/>
              <a:ahLst/>
              <a:cxnLst/>
              <a:rect l="l" t="t" r="r" b="b"/>
              <a:pathLst>
                <a:path w="890016" h="890016">
                  <a:moveTo>
                    <a:pt x="0" y="445008"/>
                  </a:moveTo>
                  <a:cubicBezTo>
                    <a:pt x="0" y="199263"/>
                    <a:pt x="199263" y="0"/>
                    <a:pt x="445008" y="0"/>
                  </a:cubicBezTo>
                  <a:cubicBezTo>
                    <a:pt x="690753" y="0"/>
                    <a:pt x="890016" y="199263"/>
                    <a:pt x="890016" y="445008"/>
                  </a:cubicBezTo>
                  <a:cubicBezTo>
                    <a:pt x="890016" y="690753"/>
                    <a:pt x="690753" y="890016"/>
                    <a:pt x="445008" y="890016"/>
                  </a:cubicBezTo>
                  <a:cubicBezTo>
                    <a:pt x="199263" y="890016"/>
                    <a:pt x="0" y="690753"/>
                    <a:pt x="0" y="445008"/>
                  </a:cubicBezTo>
                  <a:close/>
                </a:path>
              </a:pathLst>
            </a:custGeom>
            <a:solidFill>
              <a:srgbClr val="003180"/>
            </a:solidFill>
            <a:ln w="9526" cap="sq">
              <a:solidFill>
                <a:srgbClr val="194A99"/>
              </a:solidFill>
              <a:prstDash val="solid"/>
              <a:miter/>
            </a:ln>
          </p:spPr>
        </p:sp>
      </p:grpSp>
      <p:sp>
        <p:nvSpPr>
          <p:cNvPr id="15" name="Freeform 15" descr="preencoded.png"/>
          <p:cNvSpPr/>
          <p:nvPr/>
        </p:nvSpPr>
        <p:spPr>
          <a:xfrm>
            <a:off x="1041797" y="1917802"/>
            <a:ext cx="328908" cy="328908"/>
          </a:xfrm>
          <a:custGeom>
            <a:avLst/>
            <a:gdLst/>
            <a:ahLst/>
            <a:cxnLst/>
            <a:rect l="l" t="t" r="r" b="b"/>
            <a:pathLst>
              <a:path w="328908" h="328908">
                <a:moveTo>
                  <a:pt x="0" y="0"/>
                </a:moveTo>
                <a:lnTo>
                  <a:pt x="328908" y="0"/>
                </a:lnTo>
                <a:lnTo>
                  <a:pt x="328908" y="328907"/>
                </a:lnTo>
                <a:lnTo>
                  <a:pt x="0" y="328907"/>
                </a:lnTo>
                <a:lnTo>
                  <a:pt x="0" y="0"/>
                </a:lnTo>
                <a:close/>
              </a:path>
            </a:pathLst>
          </a:custGeom>
          <a:blipFill>
            <a:blip>
              <a:extLst>
                <a:ext uri="{96DAC541-7B7A-43D3-8B79-37D633B846F1}">
                  <asvg:svgBlip xmlns:asvg="http://schemas.microsoft.com/office/drawing/2016/SVG/main" r:embed="rId7"/>
                </a:ext>
              </a:extLst>
            </a:blip>
            <a:stretch>
              <a:fillRect l="-5713" r="-5716"/>
            </a:stretch>
          </a:blipFill>
        </p:spPr>
      </p:sp>
      <p:sp>
        <p:nvSpPr>
          <p:cNvPr id="16" name="TextBox 16"/>
          <p:cNvSpPr txBox="1"/>
          <p:nvPr/>
        </p:nvSpPr>
        <p:spPr>
          <a:xfrm>
            <a:off x="1713461" y="1768526"/>
            <a:ext cx="5594937" cy="320280"/>
          </a:xfrm>
          <a:prstGeom prst="rect">
            <a:avLst/>
          </a:prstGeom>
        </p:spPr>
        <p:txBody>
          <a:bodyPr wrap="square" lIns="0" tIns="0" rIns="0" bIns="0" rtlCol="0" anchor="t">
            <a:spAutoFit/>
          </a:bodyPr>
          <a:lstStyle/>
          <a:p>
            <a:pPr algn="l">
              <a:lnSpc>
                <a:spcPts val="2600"/>
              </a:lnSpc>
            </a:pPr>
            <a:r>
              <a:rPr lang="en-US" sz="2100" dirty="0">
                <a:solidFill>
                  <a:srgbClr val="E2E6E9"/>
                </a:solidFill>
                <a:latin typeface="Merriweather"/>
                <a:ea typeface="Merriweather"/>
                <a:cs typeface="Merriweather"/>
                <a:sym typeface="Merriweather"/>
              </a:rPr>
              <a:t>Missing Value Removal</a:t>
            </a:r>
          </a:p>
        </p:txBody>
      </p:sp>
      <p:sp>
        <p:nvSpPr>
          <p:cNvPr id="17" name="TextBox 17"/>
          <p:cNvSpPr txBox="1"/>
          <p:nvPr/>
        </p:nvSpPr>
        <p:spPr>
          <a:xfrm>
            <a:off x="1713462" y="2198932"/>
            <a:ext cx="8839200" cy="674189"/>
          </a:xfrm>
          <a:prstGeom prst="rect">
            <a:avLst/>
          </a:prstGeom>
        </p:spPr>
        <p:txBody>
          <a:bodyPr lIns="0" tIns="0" rIns="0" bIns="0" rtlCol="0" anchor="t">
            <a:spAutoFit/>
          </a:bodyPr>
          <a:lstStyle/>
          <a:p>
            <a:pPr algn="l">
              <a:lnSpc>
                <a:spcPts val="2499"/>
              </a:lnSpc>
            </a:pPr>
            <a:r>
              <a:rPr lang="en-US" sz="1700">
                <a:solidFill>
                  <a:srgbClr val="E2E6E9"/>
                </a:solidFill>
                <a:latin typeface="Merriweather"/>
                <a:ea typeface="Merriweather"/>
                <a:cs typeface="Merriweather"/>
                <a:sym typeface="Merriweather"/>
              </a:rPr>
              <a:t>All missing values were removed from the dataset to ensure data quality and model reliability</a:t>
            </a:r>
          </a:p>
        </p:txBody>
      </p:sp>
      <p:grpSp>
        <p:nvGrpSpPr>
          <p:cNvPr id="18" name="Group 18"/>
          <p:cNvGrpSpPr/>
          <p:nvPr/>
        </p:nvGrpSpPr>
        <p:grpSpPr>
          <a:xfrm>
            <a:off x="1420863" y="3594649"/>
            <a:ext cx="228752" cy="1204465"/>
            <a:chOff x="0" y="0"/>
            <a:chExt cx="305003" cy="1605953"/>
          </a:xfrm>
        </p:grpSpPr>
        <p:sp>
          <p:nvSpPr>
            <p:cNvPr id="19" name="Freeform 19"/>
            <p:cNvSpPr/>
            <p:nvPr/>
          </p:nvSpPr>
          <p:spPr>
            <a:xfrm>
              <a:off x="0" y="0"/>
              <a:ext cx="305054" cy="1605915"/>
            </a:xfrm>
            <a:custGeom>
              <a:avLst/>
              <a:gdLst/>
              <a:ahLst/>
              <a:cxnLst/>
              <a:rect l="l" t="t" r="r" b="b"/>
              <a:pathLst>
                <a:path w="305054" h="1605915">
                  <a:moveTo>
                    <a:pt x="0" y="128143"/>
                  </a:moveTo>
                  <a:cubicBezTo>
                    <a:pt x="0" y="57404"/>
                    <a:pt x="57404" y="0"/>
                    <a:pt x="128143" y="0"/>
                  </a:cubicBezTo>
                  <a:lnTo>
                    <a:pt x="176784" y="0"/>
                  </a:lnTo>
                  <a:cubicBezTo>
                    <a:pt x="247650" y="0"/>
                    <a:pt x="305054" y="57404"/>
                    <a:pt x="305054" y="128143"/>
                  </a:cubicBezTo>
                  <a:lnTo>
                    <a:pt x="305054" y="1477772"/>
                  </a:lnTo>
                  <a:cubicBezTo>
                    <a:pt x="305054" y="1548511"/>
                    <a:pt x="247650" y="1605915"/>
                    <a:pt x="176911" y="1605915"/>
                  </a:cubicBezTo>
                  <a:lnTo>
                    <a:pt x="128143" y="1605915"/>
                  </a:lnTo>
                  <a:cubicBezTo>
                    <a:pt x="57404" y="1605915"/>
                    <a:pt x="0" y="1548511"/>
                    <a:pt x="0" y="1477772"/>
                  </a:cubicBezTo>
                  <a:close/>
                </a:path>
              </a:pathLst>
            </a:custGeom>
            <a:solidFill>
              <a:srgbClr val="003180"/>
            </a:solidFill>
            <a:ln w="9526" cap="sq">
              <a:solidFill>
                <a:srgbClr val="194A99"/>
              </a:solidFill>
              <a:prstDash val="solid"/>
              <a:miter/>
            </a:ln>
          </p:spPr>
        </p:sp>
      </p:grpSp>
      <p:grpSp>
        <p:nvGrpSpPr>
          <p:cNvPr id="20" name="Group 20"/>
          <p:cNvGrpSpPr/>
          <p:nvPr/>
        </p:nvGrpSpPr>
        <p:grpSpPr>
          <a:xfrm>
            <a:off x="1201493" y="3450727"/>
            <a:ext cx="667493" cy="667493"/>
            <a:chOff x="0" y="0"/>
            <a:chExt cx="889991" cy="889991"/>
          </a:xfrm>
        </p:grpSpPr>
        <p:sp>
          <p:nvSpPr>
            <p:cNvPr id="21" name="Freeform 21"/>
            <p:cNvSpPr/>
            <p:nvPr/>
          </p:nvSpPr>
          <p:spPr>
            <a:xfrm>
              <a:off x="0" y="0"/>
              <a:ext cx="890016" cy="890016"/>
            </a:xfrm>
            <a:custGeom>
              <a:avLst/>
              <a:gdLst/>
              <a:ahLst/>
              <a:cxnLst/>
              <a:rect l="l" t="t" r="r" b="b"/>
              <a:pathLst>
                <a:path w="890016" h="890016">
                  <a:moveTo>
                    <a:pt x="0" y="445008"/>
                  </a:moveTo>
                  <a:cubicBezTo>
                    <a:pt x="0" y="199263"/>
                    <a:pt x="199263" y="0"/>
                    <a:pt x="445008" y="0"/>
                  </a:cubicBezTo>
                  <a:cubicBezTo>
                    <a:pt x="690753" y="0"/>
                    <a:pt x="890016" y="199263"/>
                    <a:pt x="890016" y="445008"/>
                  </a:cubicBezTo>
                  <a:cubicBezTo>
                    <a:pt x="890016" y="690753"/>
                    <a:pt x="690753" y="890016"/>
                    <a:pt x="445008" y="890016"/>
                  </a:cubicBezTo>
                  <a:cubicBezTo>
                    <a:pt x="199263" y="890016"/>
                    <a:pt x="0" y="690753"/>
                    <a:pt x="0" y="445008"/>
                  </a:cubicBezTo>
                  <a:close/>
                </a:path>
              </a:pathLst>
            </a:custGeom>
            <a:solidFill>
              <a:srgbClr val="003180"/>
            </a:solidFill>
            <a:ln w="9526" cap="sq">
              <a:solidFill>
                <a:srgbClr val="194A99"/>
              </a:solidFill>
              <a:prstDash val="solid"/>
              <a:miter/>
            </a:ln>
          </p:spPr>
        </p:sp>
      </p:grpSp>
      <p:sp>
        <p:nvSpPr>
          <p:cNvPr id="22" name="Freeform 22" descr="preencoded.png"/>
          <p:cNvSpPr/>
          <p:nvPr/>
        </p:nvSpPr>
        <p:spPr>
          <a:xfrm>
            <a:off x="1370705" y="3619948"/>
            <a:ext cx="328908" cy="328908"/>
          </a:xfrm>
          <a:custGeom>
            <a:avLst/>
            <a:gdLst/>
            <a:ahLst/>
            <a:cxnLst/>
            <a:rect l="l" t="t" r="r" b="b"/>
            <a:pathLst>
              <a:path w="328908" h="328908">
                <a:moveTo>
                  <a:pt x="0" y="0"/>
                </a:moveTo>
                <a:lnTo>
                  <a:pt x="328907" y="0"/>
                </a:lnTo>
                <a:lnTo>
                  <a:pt x="328907" y="328907"/>
                </a:lnTo>
                <a:lnTo>
                  <a:pt x="0" y="328907"/>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23" name="TextBox 23"/>
          <p:cNvSpPr txBox="1"/>
          <p:nvPr/>
        </p:nvSpPr>
        <p:spPr>
          <a:xfrm>
            <a:off x="2042370" y="3470672"/>
            <a:ext cx="2741857" cy="361655"/>
          </a:xfrm>
          <a:prstGeom prst="rect">
            <a:avLst/>
          </a:prstGeom>
        </p:spPr>
        <p:txBody>
          <a:bodyPr lIns="0" tIns="0" rIns="0" bIns="0" rtlCol="0" anchor="t">
            <a:spAutoFit/>
          </a:bodyPr>
          <a:lstStyle/>
          <a:p>
            <a:pPr algn="l">
              <a:lnSpc>
                <a:spcPts val="2600"/>
              </a:lnSpc>
            </a:pPr>
            <a:r>
              <a:rPr lang="en-US" sz="2100">
                <a:solidFill>
                  <a:srgbClr val="E2E6E9"/>
                </a:solidFill>
                <a:latin typeface="Merriweather"/>
                <a:ea typeface="Merriweather"/>
                <a:cs typeface="Merriweather"/>
                <a:sym typeface="Merriweather"/>
              </a:rPr>
              <a:t>Log Transformation</a:t>
            </a:r>
          </a:p>
        </p:txBody>
      </p:sp>
      <p:sp>
        <p:nvSpPr>
          <p:cNvPr id="24" name="TextBox 24"/>
          <p:cNvSpPr txBox="1"/>
          <p:nvPr/>
        </p:nvSpPr>
        <p:spPr>
          <a:xfrm>
            <a:off x="2042370" y="3901078"/>
            <a:ext cx="8510292" cy="674189"/>
          </a:xfrm>
          <a:prstGeom prst="rect">
            <a:avLst/>
          </a:prstGeom>
        </p:spPr>
        <p:txBody>
          <a:bodyPr lIns="0" tIns="0" rIns="0" bIns="0" rtlCol="0" anchor="t">
            <a:spAutoFit/>
          </a:bodyPr>
          <a:lstStyle/>
          <a:p>
            <a:pPr algn="l">
              <a:lnSpc>
                <a:spcPts val="2499"/>
              </a:lnSpc>
            </a:pPr>
            <a:r>
              <a:rPr lang="en-US" sz="1700">
                <a:solidFill>
                  <a:srgbClr val="E2E6E9"/>
                </a:solidFill>
                <a:latin typeface="Merriweather"/>
                <a:ea typeface="Merriweather"/>
                <a:cs typeface="Merriweather"/>
                <a:sym typeface="Merriweather"/>
              </a:rPr>
              <a:t>Response variable (price) was log-transformed to normalize distribution and stabilize variance</a:t>
            </a:r>
          </a:p>
        </p:txBody>
      </p:sp>
      <p:grpSp>
        <p:nvGrpSpPr>
          <p:cNvPr id="25" name="Group 25"/>
          <p:cNvGrpSpPr/>
          <p:nvPr/>
        </p:nvGrpSpPr>
        <p:grpSpPr>
          <a:xfrm>
            <a:off x="1749923" y="5296795"/>
            <a:ext cx="228752" cy="1204465"/>
            <a:chOff x="0" y="0"/>
            <a:chExt cx="305003" cy="1605953"/>
          </a:xfrm>
        </p:grpSpPr>
        <p:sp>
          <p:nvSpPr>
            <p:cNvPr id="26" name="Freeform 26"/>
            <p:cNvSpPr/>
            <p:nvPr/>
          </p:nvSpPr>
          <p:spPr>
            <a:xfrm>
              <a:off x="0" y="0"/>
              <a:ext cx="305054" cy="1605915"/>
            </a:xfrm>
            <a:custGeom>
              <a:avLst/>
              <a:gdLst/>
              <a:ahLst/>
              <a:cxnLst/>
              <a:rect l="l" t="t" r="r" b="b"/>
              <a:pathLst>
                <a:path w="305054" h="1605915">
                  <a:moveTo>
                    <a:pt x="0" y="128143"/>
                  </a:moveTo>
                  <a:cubicBezTo>
                    <a:pt x="0" y="57404"/>
                    <a:pt x="57404" y="0"/>
                    <a:pt x="128143" y="0"/>
                  </a:cubicBezTo>
                  <a:lnTo>
                    <a:pt x="176784" y="0"/>
                  </a:lnTo>
                  <a:cubicBezTo>
                    <a:pt x="247650" y="0"/>
                    <a:pt x="305054" y="57404"/>
                    <a:pt x="305054" y="128143"/>
                  </a:cubicBezTo>
                  <a:lnTo>
                    <a:pt x="305054" y="1477772"/>
                  </a:lnTo>
                  <a:cubicBezTo>
                    <a:pt x="305054" y="1548511"/>
                    <a:pt x="247650" y="1605915"/>
                    <a:pt x="176911" y="1605915"/>
                  </a:cubicBezTo>
                  <a:lnTo>
                    <a:pt x="128143" y="1605915"/>
                  </a:lnTo>
                  <a:cubicBezTo>
                    <a:pt x="57404" y="1605915"/>
                    <a:pt x="0" y="1548511"/>
                    <a:pt x="0" y="1477772"/>
                  </a:cubicBezTo>
                  <a:close/>
                </a:path>
              </a:pathLst>
            </a:custGeom>
            <a:solidFill>
              <a:srgbClr val="003180"/>
            </a:solidFill>
            <a:ln w="9526" cap="sq">
              <a:solidFill>
                <a:srgbClr val="194A99"/>
              </a:solidFill>
              <a:prstDash val="solid"/>
              <a:miter/>
            </a:ln>
          </p:spPr>
        </p:sp>
      </p:grpSp>
      <p:grpSp>
        <p:nvGrpSpPr>
          <p:cNvPr id="27" name="Group 27"/>
          <p:cNvGrpSpPr/>
          <p:nvPr/>
        </p:nvGrpSpPr>
        <p:grpSpPr>
          <a:xfrm>
            <a:off x="1530544" y="5152873"/>
            <a:ext cx="667493" cy="667493"/>
            <a:chOff x="0" y="0"/>
            <a:chExt cx="889991" cy="889991"/>
          </a:xfrm>
        </p:grpSpPr>
        <p:sp>
          <p:nvSpPr>
            <p:cNvPr id="28" name="Freeform 28"/>
            <p:cNvSpPr/>
            <p:nvPr/>
          </p:nvSpPr>
          <p:spPr>
            <a:xfrm>
              <a:off x="0" y="0"/>
              <a:ext cx="890016" cy="890016"/>
            </a:xfrm>
            <a:custGeom>
              <a:avLst/>
              <a:gdLst/>
              <a:ahLst/>
              <a:cxnLst/>
              <a:rect l="l" t="t" r="r" b="b"/>
              <a:pathLst>
                <a:path w="890016" h="890016">
                  <a:moveTo>
                    <a:pt x="0" y="445008"/>
                  </a:moveTo>
                  <a:cubicBezTo>
                    <a:pt x="0" y="199263"/>
                    <a:pt x="199263" y="0"/>
                    <a:pt x="445008" y="0"/>
                  </a:cubicBezTo>
                  <a:cubicBezTo>
                    <a:pt x="690753" y="0"/>
                    <a:pt x="890016" y="199263"/>
                    <a:pt x="890016" y="445008"/>
                  </a:cubicBezTo>
                  <a:cubicBezTo>
                    <a:pt x="890016" y="690753"/>
                    <a:pt x="690753" y="890016"/>
                    <a:pt x="445008" y="890016"/>
                  </a:cubicBezTo>
                  <a:cubicBezTo>
                    <a:pt x="199263" y="890016"/>
                    <a:pt x="0" y="690753"/>
                    <a:pt x="0" y="445008"/>
                  </a:cubicBezTo>
                  <a:close/>
                </a:path>
              </a:pathLst>
            </a:custGeom>
            <a:solidFill>
              <a:srgbClr val="003180"/>
            </a:solidFill>
            <a:ln w="9526" cap="sq">
              <a:solidFill>
                <a:srgbClr val="194A99"/>
              </a:solidFill>
              <a:prstDash val="solid"/>
              <a:miter/>
            </a:ln>
          </p:spPr>
        </p:sp>
      </p:grpSp>
      <p:sp>
        <p:nvSpPr>
          <p:cNvPr id="29" name="Freeform 29" descr="preencoded.png"/>
          <p:cNvSpPr/>
          <p:nvPr/>
        </p:nvSpPr>
        <p:spPr>
          <a:xfrm>
            <a:off x="1699765" y="5322094"/>
            <a:ext cx="328908" cy="328908"/>
          </a:xfrm>
          <a:custGeom>
            <a:avLst/>
            <a:gdLst/>
            <a:ahLst/>
            <a:cxnLst/>
            <a:rect l="l" t="t" r="r" b="b"/>
            <a:pathLst>
              <a:path w="328908" h="328908">
                <a:moveTo>
                  <a:pt x="0" y="0"/>
                </a:moveTo>
                <a:lnTo>
                  <a:pt x="328908" y="0"/>
                </a:lnTo>
                <a:lnTo>
                  <a:pt x="328908" y="328908"/>
                </a:lnTo>
                <a:lnTo>
                  <a:pt x="0" y="328908"/>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30" name="TextBox 30"/>
          <p:cNvSpPr txBox="1"/>
          <p:nvPr/>
        </p:nvSpPr>
        <p:spPr>
          <a:xfrm>
            <a:off x="2371430" y="5172818"/>
            <a:ext cx="2741857" cy="361655"/>
          </a:xfrm>
          <a:prstGeom prst="rect">
            <a:avLst/>
          </a:prstGeom>
        </p:spPr>
        <p:txBody>
          <a:bodyPr lIns="0" tIns="0" rIns="0" bIns="0" rtlCol="0" anchor="t">
            <a:spAutoFit/>
          </a:bodyPr>
          <a:lstStyle/>
          <a:p>
            <a:pPr algn="l">
              <a:lnSpc>
                <a:spcPts val="2600"/>
              </a:lnSpc>
            </a:pPr>
            <a:r>
              <a:rPr lang="en-US" sz="2100">
                <a:solidFill>
                  <a:srgbClr val="E2E6E9"/>
                </a:solidFill>
                <a:latin typeface="Merriweather"/>
                <a:ea typeface="Merriweather"/>
                <a:cs typeface="Merriweather"/>
                <a:sym typeface="Merriweather"/>
              </a:rPr>
              <a:t>Factor Conversion</a:t>
            </a:r>
          </a:p>
        </p:txBody>
      </p:sp>
      <p:sp>
        <p:nvSpPr>
          <p:cNvPr id="31" name="TextBox 31"/>
          <p:cNvSpPr txBox="1"/>
          <p:nvPr/>
        </p:nvSpPr>
        <p:spPr>
          <a:xfrm>
            <a:off x="2371430" y="5603234"/>
            <a:ext cx="8181232" cy="674189"/>
          </a:xfrm>
          <a:prstGeom prst="rect">
            <a:avLst/>
          </a:prstGeom>
        </p:spPr>
        <p:txBody>
          <a:bodyPr lIns="0" tIns="0" rIns="0" bIns="0" rtlCol="0" anchor="t">
            <a:spAutoFit/>
          </a:bodyPr>
          <a:lstStyle/>
          <a:p>
            <a:pPr algn="l">
              <a:lnSpc>
                <a:spcPts val="2499"/>
              </a:lnSpc>
            </a:pPr>
            <a:r>
              <a:rPr lang="en-US" sz="1700" dirty="0">
                <a:solidFill>
                  <a:srgbClr val="E2E6E9"/>
                </a:solidFill>
                <a:latin typeface="Merriweather"/>
                <a:ea typeface="Merriweather"/>
                <a:cs typeface="Merriweather"/>
                <a:sym typeface="Merriweather"/>
              </a:rPr>
              <a:t>Character variables converted to factors for proper handling of categorical predictors</a:t>
            </a:r>
          </a:p>
        </p:txBody>
      </p:sp>
      <p:grpSp>
        <p:nvGrpSpPr>
          <p:cNvPr id="32" name="Group 32"/>
          <p:cNvGrpSpPr/>
          <p:nvPr/>
        </p:nvGrpSpPr>
        <p:grpSpPr>
          <a:xfrm>
            <a:off x="2078984" y="6998941"/>
            <a:ext cx="228752" cy="1204465"/>
            <a:chOff x="0" y="0"/>
            <a:chExt cx="305003" cy="1605953"/>
          </a:xfrm>
        </p:grpSpPr>
        <p:sp>
          <p:nvSpPr>
            <p:cNvPr id="33" name="Freeform 33"/>
            <p:cNvSpPr/>
            <p:nvPr/>
          </p:nvSpPr>
          <p:spPr>
            <a:xfrm>
              <a:off x="0" y="0"/>
              <a:ext cx="305054" cy="1605915"/>
            </a:xfrm>
            <a:custGeom>
              <a:avLst/>
              <a:gdLst/>
              <a:ahLst/>
              <a:cxnLst/>
              <a:rect l="l" t="t" r="r" b="b"/>
              <a:pathLst>
                <a:path w="305054" h="1605915">
                  <a:moveTo>
                    <a:pt x="0" y="128143"/>
                  </a:moveTo>
                  <a:cubicBezTo>
                    <a:pt x="0" y="57404"/>
                    <a:pt x="57404" y="0"/>
                    <a:pt x="128143" y="0"/>
                  </a:cubicBezTo>
                  <a:lnTo>
                    <a:pt x="176784" y="0"/>
                  </a:lnTo>
                  <a:cubicBezTo>
                    <a:pt x="247650" y="0"/>
                    <a:pt x="305054" y="57404"/>
                    <a:pt x="305054" y="128143"/>
                  </a:cubicBezTo>
                  <a:lnTo>
                    <a:pt x="305054" y="1477772"/>
                  </a:lnTo>
                  <a:cubicBezTo>
                    <a:pt x="305054" y="1548511"/>
                    <a:pt x="247650" y="1605915"/>
                    <a:pt x="176911" y="1605915"/>
                  </a:cubicBezTo>
                  <a:lnTo>
                    <a:pt x="128143" y="1605915"/>
                  </a:lnTo>
                  <a:cubicBezTo>
                    <a:pt x="57404" y="1605915"/>
                    <a:pt x="0" y="1548511"/>
                    <a:pt x="0" y="1477772"/>
                  </a:cubicBezTo>
                  <a:close/>
                </a:path>
              </a:pathLst>
            </a:custGeom>
            <a:solidFill>
              <a:srgbClr val="003180"/>
            </a:solidFill>
            <a:ln w="9526" cap="sq">
              <a:solidFill>
                <a:srgbClr val="194A99"/>
              </a:solidFill>
              <a:prstDash val="solid"/>
              <a:miter/>
            </a:ln>
          </p:spPr>
        </p:sp>
      </p:grpSp>
      <p:grpSp>
        <p:nvGrpSpPr>
          <p:cNvPr id="34" name="Group 34"/>
          <p:cNvGrpSpPr/>
          <p:nvPr/>
        </p:nvGrpSpPr>
        <p:grpSpPr>
          <a:xfrm>
            <a:off x="1859604" y="6855019"/>
            <a:ext cx="667493" cy="667493"/>
            <a:chOff x="0" y="0"/>
            <a:chExt cx="889991" cy="889991"/>
          </a:xfrm>
        </p:grpSpPr>
        <p:sp>
          <p:nvSpPr>
            <p:cNvPr id="35" name="Freeform 35"/>
            <p:cNvSpPr/>
            <p:nvPr/>
          </p:nvSpPr>
          <p:spPr>
            <a:xfrm>
              <a:off x="0" y="0"/>
              <a:ext cx="890016" cy="890016"/>
            </a:xfrm>
            <a:custGeom>
              <a:avLst/>
              <a:gdLst/>
              <a:ahLst/>
              <a:cxnLst/>
              <a:rect l="l" t="t" r="r" b="b"/>
              <a:pathLst>
                <a:path w="890016" h="890016">
                  <a:moveTo>
                    <a:pt x="0" y="445008"/>
                  </a:moveTo>
                  <a:cubicBezTo>
                    <a:pt x="0" y="199263"/>
                    <a:pt x="199263" y="0"/>
                    <a:pt x="445008" y="0"/>
                  </a:cubicBezTo>
                  <a:cubicBezTo>
                    <a:pt x="690753" y="0"/>
                    <a:pt x="890016" y="199263"/>
                    <a:pt x="890016" y="445008"/>
                  </a:cubicBezTo>
                  <a:cubicBezTo>
                    <a:pt x="890016" y="690753"/>
                    <a:pt x="690753" y="890016"/>
                    <a:pt x="445008" y="890016"/>
                  </a:cubicBezTo>
                  <a:cubicBezTo>
                    <a:pt x="199263" y="890016"/>
                    <a:pt x="0" y="690753"/>
                    <a:pt x="0" y="445008"/>
                  </a:cubicBezTo>
                  <a:close/>
                </a:path>
              </a:pathLst>
            </a:custGeom>
            <a:solidFill>
              <a:srgbClr val="003180"/>
            </a:solidFill>
            <a:ln w="9526" cap="sq">
              <a:solidFill>
                <a:srgbClr val="194A99"/>
              </a:solidFill>
              <a:prstDash val="solid"/>
              <a:miter/>
            </a:ln>
          </p:spPr>
        </p:sp>
      </p:grpSp>
      <p:sp>
        <p:nvSpPr>
          <p:cNvPr id="36" name="Freeform 36" descr="preencoded.png"/>
          <p:cNvSpPr/>
          <p:nvPr/>
        </p:nvSpPr>
        <p:spPr>
          <a:xfrm>
            <a:off x="2028825" y="7024240"/>
            <a:ext cx="328908" cy="328908"/>
          </a:xfrm>
          <a:custGeom>
            <a:avLst/>
            <a:gdLst/>
            <a:ahLst/>
            <a:cxnLst/>
            <a:rect l="l" t="t" r="r" b="b"/>
            <a:pathLst>
              <a:path w="328908" h="328908">
                <a:moveTo>
                  <a:pt x="0" y="0"/>
                </a:moveTo>
                <a:lnTo>
                  <a:pt x="328908" y="0"/>
                </a:lnTo>
                <a:lnTo>
                  <a:pt x="328908" y="328908"/>
                </a:lnTo>
                <a:lnTo>
                  <a:pt x="0" y="328908"/>
                </a:lnTo>
                <a:lnTo>
                  <a:pt x="0" y="0"/>
                </a:lnTo>
                <a:close/>
              </a:path>
            </a:pathLst>
          </a:custGeom>
          <a:blipFill>
            <a:blip>
              <a:extLst>
                <a:ext uri="{96DAC541-7B7A-43D3-8B79-37D633B846F1}">
                  <asvg:svgBlip xmlns:asvg="http://schemas.microsoft.com/office/drawing/2016/SVG/main" r:embed="rId10"/>
                </a:ext>
              </a:extLst>
            </a:blip>
            <a:stretch>
              <a:fillRect l="-4286" r="-4286"/>
            </a:stretch>
          </a:blipFill>
        </p:spPr>
      </p:sp>
      <p:sp>
        <p:nvSpPr>
          <p:cNvPr id="37" name="TextBox 37"/>
          <p:cNvSpPr txBox="1"/>
          <p:nvPr/>
        </p:nvSpPr>
        <p:spPr>
          <a:xfrm>
            <a:off x="2700490" y="6874964"/>
            <a:ext cx="2741857" cy="361655"/>
          </a:xfrm>
          <a:prstGeom prst="rect">
            <a:avLst/>
          </a:prstGeom>
        </p:spPr>
        <p:txBody>
          <a:bodyPr lIns="0" tIns="0" rIns="0" bIns="0" rtlCol="0" anchor="t">
            <a:spAutoFit/>
          </a:bodyPr>
          <a:lstStyle/>
          <a:p>
            <a:pPr algn="l">
              <a:lnSpc>
                <a:spcPts val="2600"/>
              </a:lnSpc>
            </a:pPr>
            <a:r>
              <a:rPr lang="en-US" sz="2100">
                <a:solidFill>
                  <a:srgbClr val="E2E6E9"/>
                </a:solidFill>
                <a:latin typeface="Merriweather"/>
                <a:ea typeface="Merriweather"/>
                <a:cs typeface="Merriweather"/>
                <a:sym typeface="Merriweather"/>
              </a:rPr>
              <a:t>Data Splitting</a:t>
            </a:r>
          </a:p>
        </p:txBody>
      </p:sp>
      <p:sp>
        <p:nvSpPr>
          <p:cNvPr id="38" name="TextBox 38"/>
          <p:cNvSpPr txBox="1"/>
          <p:nvPr/>
        </p:nvSpPr>
        <p:spPr>
          <a:xfrm>
            <a:off x="2700490" y="7305380"/>
            <a:ext cx="7852172" cy="674189"/>
          </a:xfrm>
          <a:prstGeom prst="rect">
            <a:avLst/>
          </a:prstGeom>
        </p:spPr>
        <p:txBody>
          <a:bodyPr lIns="0" tIns="0" rIns="0" bIns="0" rtlCol="0" anchor="t">
            <a:spAutoFit/>
          </a:bodyPr>
          <a:lstStyle/>
          <a:p>
            <a:pPr algn="l">
              <a:lnSpc>
                <a:spcPts val="2499"/>
              </a:lnSpc>
            </a:pPr>
            <a:r>
              <a:rPr lang="en-US" sz="1700">
                <a:solidFill>
                  <a:srgbClr val="E2E6E9"/>
                </a:solidFill>
                <a:latin typeface="Merriweather"/>
                <a:ea typeface="Merriweather"/>
                <a:cs typeface="Merriweather"/>
                <a:sym typeface="Merriweather"/>
              </a:rPr>
              <a:t>Dataset divided into training (70%) and testing (30%) sets using stratified sampling</a:t>
            </a:r>
          </a:p>
        </p:txBody>
      </p:sp>
      <p:sp>
        <p:nvSpPr>
          <p:cNvPr id="39" name="TextBox 39"/>
          <p:cNvSpPr txBox="1"/>
          <p:nvPr/>
        </p:nvSpPr>
        <p:spPr>
          <a:xfrm>
            <a:off x="877338" y="8361159"/>
            <a:ext cx="9675314" cy="1310278"/>
          </a:xfrm>
          <a:prstGeom prst="rect">
            <a:avLst/>
          </a:prstGeom>
        </p:spPr>
        <p:txBody>
          <a:bodyPr lIns="0" tIns="0" rIns="0" bIns="0" rtlCol="0" anchor="t">
            <a:spAutoFit/>
          </a:bodyPr>
          <a:lstStyle/>
          <a:p>
            <a:pPr algn="l">
              <a:lnSpc>
                <a:spcPts val="2499"/>
              </a:lnSpc>
            </a:pPr>
            <a:r>
              <a:rPr lang="en-US" sz="1700">
                <a:solidFill>
                  <a:srgbClr val="E2E6E9"/>
                </a:solidFill>
                <a:latin typeface="Merriweather"/>
                <a:ea typeface="Merriweather"/>
                <a:cs typeface="Merriweather"/>
                <a:sym typeface="Merriweather"/>
              </a:rPr>
              <a:t>The log transformation addressed strong right-skewness in the price distribution, improving model performance and interpretability. Factor conversion enabled the regression model to generate dummy variables and incorporate qualitative features effectively.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88991"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944756" y="719290"/>
            <a:ext cx="6642202" cy="766763"/>
          </a:xfrm>
          <a:prstGeom prst="rect">
            <a:avLst/>
          </a:prstGeom>
        </p:spPr>
        <p:txBody>
          <a:bodyPr lIns="0" tIns="0" rIns="0" bIns="0" rtlCol="0" anchor="t">
            <a:spAutoFit/>
          </a:bodyPr>
          <a:lstStyle/>
          <a:p>
            <a:pPr algn="l">
              <a:lnSpc>
                <a:spcPts val="5800"/>
              </a:lnSpc>
            </a:pPr>
            <a:r>
              <a:rPr lang="en-US" sz="4600">
                <a:solidFill>
                  <a:srgbClr val="F5F0F0"/>
                </a:solidFill>
                <a:latin typeface="Merriweather"/>
                <a:ea typeface="Merriweather"/>
                <a:cs typeface="Merriweather"/>
                <a:sym typeface="Merriweather"/>
              </a:rPr>
              <a:t>Methodology Overview</a:t>
            </a:r>
          </a:p>
        </p:txBody>
      </p:sp>
      <p:sp>
        <p:nvSpPr>
          <p:cNvPr id="7" name="TextBox 7"/>
          <p:cNvSpPr txBox="1"/>
          <p:nvPr/>
        </p:nvSpPr>
        <p:spPr>
          <a:xfrm>
            <a:off x="960534" y="2298726"/>
            <a:ext cx="3939778" cy="452437"/>
          </a:xfrm>
          <a:prstGeom prst="rect">
            <a:avLst/>
          </a:prstGeom>
        </p:spPr>
        <p:txBody>
          <a:bodyPr lIns="0" tIns="0" rIns="0" bIns="0" rtlCol="0" anchor="t">
            <a:spAutoFit/>
          </a:bodyPr>
          <a:lstStyle/>
          <a:p>
            <a:pPr algn="l">
              <a:lnSpc>
                <a:spcPts val="3399"/>
              </a:lnSpc>
            </a:pPr>
            <a:r>
              <a:rPr lang="en-US" sz="2700" dirty="0">
                <a:solidFill>
                  <a:srgbClr val="F5F0F0"/>
                </a:solidFill>
                <a:latin typeface="Merriweather"/>
                <a:ea typeface="Merriweather"/>
                <a:cs typeface="Merriweather"/>
                <a:sym typeface="Merriweather"/>
              </a:rPr>
              <a:t>Regression Techniques</a:t>
            </a:r>
          </a:p>
        </p:txBody>
      </p:sp>
      <p:sp>
        <p:nvSpPr>
          <p:cNvPr id="8" name="TextBox 8"/>
          <p:cNvSpPr txBox="1"/>
          <p:nvPr/>
        </p:nvSpPr>
        <p:spPr>
          <a:xfrm>
            <a:off x="944756" y="2585447"/>
            <a:ext cx="7911113" cy="2743572"/>
          </a:xfrm>
          <a:prstGeom prst="rect">
            <a:avLst/>
          </a:prstGeom>
        </p:spPr>
        <p:txBody>
          <a:bodyPr lIns="0" tIns="0" rIns="0" bIns="0" rtlCol="0" anchor="t">
            <a:spAutoFit/>
          </a:bodyPr>
          <a:lstStyle/>
          <a:p>
            <a:pPr marL="434340" lvl="1" indent="-217170" algn="l">
              <a:lnSpc>
                <a:spcPts val="2700"/>
              </a:lnSpc>
              <a:buFont typeface="Arial"/>
              <a:buChar char="•"/>
            </a:pPr>
            <a:endParaRPr lang="en-US" sz="1800" dirty="0">
              <a:solidFill>
                <a:srgbClr val="E2E6E9"/>
              </a:solidFill>
              <a:latin typeface="Merriweather"/>
              <a:ea typeface="Merriweather"/>
              <a:cs typeface="Merriweather"/>
              <a:sym typeface="Merriweather"/>
            </a:endParaRPr>
          </a:p>
          <a:p>
            <a:pPr marL="434340" lvl="1" indent="-217170" algn="l">
              <a:lnSpc>
                <a:spcPts val="2700"/>
              </a:lnSpc>
              <a:buFont typeface="Arial"/>
              <a:buChar char="•"/>
            </a:pPr>
            <a:r>
              <a:rPr lang="en-US" sz="1800" dirty="0">
                <a:solidFill>
                  <a:srgbClr val="E2E6E9"/>
                </a:solidFill>
                <a:latin typeface="Merriweather"/>
                <a:ea typeface="Merriweather"/>
                <a:cs typeface="Merriweather"/>
                <a:sym typeface="Merriweather"/>
              </a:rPr>
              <a:t>Multiple Linear Regression</a:t>
            </a:r>
          </a:p>
          <a:p>
            <a:pPr marL="434340" lvl="1" indent="-217170" algn="l">
              <a:lnSpc>
                <a:spcPts val="2700"/>
              </a:lnSpc>
              <a:buFont typeface="Arial"/>
              <a:buChar char="•"/>
            </a:pPr>
            <a:r>
              <a:rPr lang="en-US" sz="1800" dirty="0">
                <a:solidFill>
                  <a:srgbClr val="E2E6E9"/>
                </a:solidFill>
                <a:latin typeface="Merriweather"/>
                <a:ea typeface="Merriweather"/>
                <a:cs typeface="Merriweather"/>
                <a:sym typeface="Merriweather"/>
              </a:rPr>
              <a:t>Stepwise Regression with AIC</a:t>
            </a:r>
          </a:p>
          <a:p>
            <a:pPr marL="434340" lvl="1" indent="-217170" algn="l">
              <a:lnSpc>
                <a:spcPts val="2700"/>
              </a:lnSpc>
              <a:buFont typeface="Arial"/>
              <a:buChar char="•"/>
            </a:pPr>
            <a:r>
              <a:rPr lang="en-US" sz="1800" dirty="0">
                <a:solidFill>
                  <a:srgbClr val="E2E6E9"/>
                </a:solidFill>
                <a:latin typeface="Merriweather"/>
                <a:ea typeface="Merriweather"/>
                <a:cs typeface="Merriweather"/>
                <a:sym typeface="Merriweather"/>
              </a:rPr>
              <a:t>Ridge Regression</a:t>
            </a:r>
          </a:p>
          <a:p>
            <a:pPr marL="434340" lvl="1" indent="-217170" algn="l">
              <a:lnSpc>
                <a:spcPts val="2700"/>
              </a:lnSpc>
              <a:buFont typeface="Arial"/>
              <a:buChar char="•"/>
            </a:pPr>
            <a:r>
              <a:rPr lang="en-US" sz="1800" dirty="0">
                <a:solidFill>
                  <a:srgbClr val="E2E6E9"/>
                </a:solidFill>
                <a:latin typeface="Merriweather"/>
                <a:ea typeface="Merriweather"/>
                <a:cs typeface="Merriweather"/>
                <a:sym typeface="Merriweather"/>
              </a:rPr>
              <a:t>LASSO</a:t>
            </a:r>
          </a:p>
          <a:p>
            <a:pPr marL="434340" lvl="1" indent="-217170" algn="l">
              <a:lnSpc>
                <a:spcPts val="2700"/>
              </a:lnSpc>
              <a:buFont typeface="Arial"/>
              <a:buChar char="•"/>
            </a:pPr>
            <a:r>
              <a:rPr lang="en-US" sz="1800" dirty="0">
                <a:solidFill>
                  <a:srgbClr val="E2E6E9"/>
                </a:solidFill>
                <a:latin typeface="Merriweather"/>
                <a:ea typeface="Merriweather"/>
                <a:cs typeface="Merriweather"/>
                <a:sym typeface="Merriweather"/>
              </a:rPr>
              <a:t>Elastic Net</a:t>
            </a:r>
          </a:p>
          <a:p>
            <a:pPr marL="434340" lvl="1" indent="-217170" algn="l">
              <a:lnSpc>
                <a:spcPts val="2700"/>
              </a:lnSpc>
              <a:buFont typeface="Arial"/>
              <a:buChar char="•"/>
            </a:pPr>
            <a:r>
              <a:rPr lang="en-US" sz="1800" dirty="0">
                <a:solidFill>
                  <a:srgbClr val="E2E6E9"/>
                </a:solidFill>
                <a:latin typeface="Merriweather"/>
                <a:ea typeface="Merriweather"/>
                <a:cs typeface="Merriweather"/>
                <a:sym typeface="Merriweather"/>
              </a:rPr>
              <a:t>K-Nearest Neighbors</a:t>
            </a:r>
          </a:p>
          <a:p>
            <a:pPr marL="434340" lvl="1" indent="-217170" algn="l">
              <a:lnSpc>
                <a:spcPts val="2700"/>
              </a:lnSpc>
              <a:buFont typeface="Arial"/>
              <a:buChar char="•"/>
            </a:pPr>
            <a:r>
              <a:rPr lang="en-US" sz="1800" dirty="0">
                <a:solidFill>
                  <a:srgbClr val="E2E6E9"/>
                </a:solidFill>
                <a:latin typeface="Merriweather"/>
                <a:ea typeface="Merriweather"/>
                <a:cs typeface="Merriweather"/>
                <a:sym typeface="Merriweather"/>
              </a:rPr>
              <a:t>Generalized Linear Model</a:t>
            </a:r>
          </a:p>
        </p:txBody>
      </p:sp>
      <p:sp>
        <p:nvSpPr>
          <p:cNvPr id="9" name="TextBox 9"/>
          <p:cNvSpPr txBox="1"/>
          <p:nvPr/>
        </p:nvSpPr>
        <p:spPr>
          <a:xfrm>
            <a:off x="9355465" y="2298725"/>
            <a:ext cx="3543300" cy="452437"/>
          </a:xfrm>
          <a:prstGeom prst="rect">
            <a:avLst/>
          </a:prstGeom>
        </p:spPr>
        <p:txBody>
          <a:bodyPr lIns="0" tIns="0" rIns="0" bIns="0" rtlCol="0" anchor="t">
            <a:spAutoFit/>
          </a:bodyPr>
          <a:lstStyle/>
          <a:p>
            <a:pPr algn="l">
              <a:lnSpc>
                <a:spcPts val="3399"/>
              </a:lnSpc>
            </a:pPr>
            <a:r>
              <a:rPr lang="en-US" sz="2700" dirty="0">
                <a:solidFill>
                  <a:srgbClr val="F5F0F0"/>
                </a:solidFill>
                <a:latin typeface="Merriweather"/>
                <a:ea typeface="Merriweather"/>
                <a:cs typeface="Merriweather"/>
                <a:sym typeface="Merriweather"/>
              </a:rPr>
              <a:t>Model Validation</a:t>
            </a:r>
          </a:p>
        </p:txBody>
      </p:sp>
      <p:sp>
        <p:nvSpPr>
          <p:cNvPr id="10" name="TextBox 10"/>
          <p:cNvSpPr txBox="1"/>
          <p:nvPr/>
        </p:nvSpPr>
        <p:spPr>
          <a:xfrm>
            <a:off x="9333014" y="2957778"/>
            <a:ext cx="7911113" cy="775097"/>
          </a:xfrm>
          <a:prstGeom prst="rect">
            <a:avLst/>
          </a:prstGeom>
        </p:spPr>
        <p:txBody>
          <a:bodyPr lIns="0" tIns="0" rIns="0" bIns="0" rtlCol="0" anchor="t">
            <a:spAutoFit/>
          </a:bodyPr>
          <a:lstStyle/>
          <a:p>
            <a:pPr algn="l">
              <a:lnSpc>
                <a:spcPts val="2700"/>
              </a:lnSpc>
            </a:pPr>
            <a:r>
              <a:rPr lang="en-US" sz="1800" dirty="0">
                <a:solidFill>
                  <a:srgbClr val="E2E6E9"/>
                </a:solidFill>
                <a:latin typeface="Merriweather"/>
                <a:ea typeface="Merriweather"/>
                <a:cs typeface="Merriweather"/>
                <a:sym typeface="Merriweather"/>
              </a:rPr>
              <a:t>Diagnostic checks included residual analysis, outlier detection, and multicollinearity assessment using Variance Inflation Factor (VIF).</a:t>
            </a:r>
          </a:p>
        </p:txBody>
      </p:sp>
      <p:grpSp>
        <p:nvGrpSpPr>
          <p:cNvPr id="11" name="Group 11"/>
          <p:cNvGrpSpPr/>
          <p:nvPr/>
        </p:nvGrpSpPr>
        <p:grpSpPr>
          <a:xfrm>
            <a:off x="930469" y="5856084"/>
            <a:ext cx="8124530" cy="1759591"/>
            <a:chOff x="0" y="0"/>
            <a:chExt cx="10832706" cy="2346122"/>
          </a:xfrm>
        </p:grpSpPr>
        <p:sp>
          <p:nvSpPr>
            <p:cNvPr id="12" name="Freeform 12"/>
            <p:cNvSpPr/>
            <p:nvPr/>
          </p:nvSpPr>
          <p:spPr>
            <a:xfrm>
              <a:off x="0" y="0"/>
              <a:ext cx="10832719" cy="2346198"/>
            </a:xfrm>
            <a:custGeom>
              <a:avLst/>
              <a:gdLst/>
              <a:ahLst/>
              <a:cxnLst/>
              <a:rect l="l" t="t" r="r" b="b"/>
              <a:pathLst>
                <a:path w="10832719" h="2346198">
                  <a:moveTo>
                    <a:pt x="0" y="185928"/>
                  </a:moveTo>
                  <a:cubicBezTo>
                    <a:pt x="0" y="83185"/>
                    <a:pt x="83185" y="0"/>
                    <a:pt x="185928" y="0"/>
                  </a:cubicBezTo>
                  <a:lnTo>
                    <a:pt x="10646791" y="0"/>
                  </a:lnTo>
                  <a:cubicBezTo>
                    <a:pt x="10749407" y="0"/>
                    <a:pt x="10832719" y="83185"/>
                    <a:pt x="10832719" y="185928"/>
                  </a:cubicBezTo>
                  <a:lnTo>
                    <a:pt x="10832719" y="2160270"/>
                  </a:lnTo>
                  <a:cubicBezTo>
                    <a:pt x="10832719" y="2262886"/>
                    <a:pt x="10749535" y="2346198"/>
                    <a:pt x="10646791" y="2346198"/>
                  </a:cubicBezTo>
                  <a:lnTo>
                    <a:pt x="185928" y="2346198"/>
                  </a:lnTo>
                  <a:cubicBezTo>
                    <a:pt x="83185" y="2346071"/>
                    <a:pt x="0" y="2262886"/>
                    <a:pt x="0" y="2160270"/>
                  </a:cubicBezTo>
                  <a:close/>
                </a:path>
              </a:pathLst>
            </a:custGeom>
            <a:solidFill>
              <a:srgbClr val="09151A">
                <a:alpha val="90196"/>
              </a:srgbClr>
            </a:solidFill>
            <a:ln w="28576" cap="sq">
              <a:solidFill>
                <a:srgbClr val="194A99"/>
              </a:solidFill>
              <a:prstDash val="solid"/>
              <a:miter/>
            </a:ln>
          </p:spPr>
        </p:sp>
      </p:grpSp>
      <p:grpSp>
        <p:nvGrpSpPr>
          <p:cNvPr id="13" name="Group 13"/>
          <p:cNvGrpSpPr/>
          <p:nvPr/>
        </p:nvGrpSpPr>
        <p:grpSpPr>
          <a:xfrm>
            <a:off x="916191" y="5870372"/>
            <a:ext cx="114300" cy="1731016"/>
            <a:chOff x="0" y="0"/>
            <a:chExt cx="152400" cy="2308022"/>
          </a:xfrm>
        </p:grpSpPr>
        <p:sp>
          <p:nvSpPr>
            <p:cNvPr id="14" name="Freeform 14"/>
            <p:cNvSpPr/>
            <p:nvPr/>
          </p:nvSpPr>
          <p:spPr>
            <a:xfrm>
              <a:off x="0" y="0"/>
              <a:ext cx="152400" cy="2307971"/>
            </a:xfrm>
            <a:custGeom>
              <a:avLst/>
              <a:gdLst/>
              <a:ahLst/>
              <a:cxnLst/>
              <a:rect l="l" t="t" r="r" b="b"/>
              <a:pathLst>
                <a:path w="152400" h="2307971">
                  <a:moveTo>
                    <a:pt x="0" y="76200"/>
                  </a:moveTo>
                  <a:cubicBezTo>
                    <a:pt x="0" y="34163"/>
                    <a:pt x="34163" y="0"/>
                    <a:pt x="76200" y="0"/>
                  </a:cubicBezTo>
                  <a:cubicBezTo>
                    <a:pt x="118237" y="0"/>
                    <a:pt x="152400" y="34163"/>
                    <a:pt x="152400" y="76200"/>
                  </a:cubicBezTo>
                  <a:lnTo>
                    <a:pt x="152400" y="2231771"/>
                  </a:lnTo>
                  <a:cubicBezTo>
                    <a:pt x="152400" y="2273808"/>
                    <a:pt x="118237" y="2307971"/>
                    <a:pt x="76200" y="2307971"/>
                  </a:cubicBezTo>
                  <a:cubicBezTo>
                    <a:pt x="34163" y="2307971"/>
                    <a:pt x="0" y="2273808"/>
                    <a:pt x="0" y="2231771"/>
                  </a:cubicBezTo>
                  <a:close/>
                </a:path>
              </a:pathLst>
            </a:custGeom>
            <a:solidFill>
              <a:srgbClr val="609DFF"/>
            </a:solidFill>
          </p:spPr>
        </p:sp>
      </p:grpSp>
      <p:sp>
        <p:nvSpPr>
          <p:cNvPr id="15" name="TextBox 15"/>
          <p:cNvSpPr txBox="1"/>
          <p:nvPr/>
        </p:nvSpPr>
        <p:spPr>
          <a:xfrm>
            <a:off x="1295248" y="6116088"/>
            <a:ext cx="2952750" cy="388144"/>
          </a:xfrm>
          <a:prstGeom prst="rect">
            <a:avLst/>
          </a:prstGeom>
        </p:spPr>
        <p:txBody>
          <a:bodyPr lIns="0" tIns="0" rIns="0" bIns="0" rtlCol="0" anchor="t">
            <a:spAutoFit/>
          </a:bodyPr>
          <a:lstStyle/>
          <a:p>
            <a:pPr algn="l">
              <a:lnSpc>
                <a:spcPts val="2900"/>
              </a:lnSpc>
            </a:pPr>
            <a:r>
              <a:rPr lang="en-US" sz="2300">
                <a:solidFill>
                  <a:srgbClr val="E2E6E9"/>
                </a:solidFill>
                <a:latin typeface="Merriweather"/>
                <a:ea typeface="Merriweather"/>
                <a:cs typeface="Merriweather"/>
                <a:sym typeface="Merriweather"/>
              </a:rPr>
              <a:t>Model Diagnostics</a:t>
            </a:r>
          </a:p>
        </p:txBody>
      </p:sp>
      <p:sp>
        <p:nvSpPr>
          <p:cNvPr id="16" name="TextBox 16"/>
          <p:cNvSpPr txBox="1"/>
          <p:nvPr/>
        </p:nvSpPr>
        <p:spPr>
          <a:xfrm>
            <a:off x="1295248" y="6561534"/>
            <a:ext cx="7480697" cy="775097"/>
          </a:xfrm>
          <a:prstGeom prst="rect">
            <a:avLst/>
          </a:prstGeom>
        </p:spPr>
        <p:txBody>
          <a:bodyPr lIns="0" tIns="0" rIns="0" bIns="0" rtlCol="0" anchor="t">
            <a:spAutoFit/>
          </a:bodyPr>
          <a:lstStyle/>
          <a:p>
            <a:pPr algn="l">
              <a:lnSpc>
                <a:spcPts val="2700"/>
              </a:lnSpc>
            </a:pPr>
            <a:r>
              <a:rPr lang="en-US" sz="1800">
                <a:solidFill>
                  <a:srgbClr val="E2E6E9"/>
                </a:solidFill>
                <a:latin typeface="Merriweather"/>
                <a:ea typeface="Merriweather"/>
                <a:cs typeface="Merriweather"/>
                <a:sym typeface="Merriweather"/>
              </a:rPr>
              <a:t>Residual analysis, outlier detection, and multicollinearity assessment using VIF</a:t>
            </a:r>
          </a:p>
        </p:txBody>
      </p:sp>
      <p:grpSp>
        <p:nvGrpSpPr>
          <p:cNvPr id="17" name="Group 17"/>
          <p:cNvGrpSpPr/>
          <p:nvPr/>
        </p:nvGrpSpPr>
        <p:grpSpPr>
          <a:xfrm>
            <a:off x="9233002" y="5856084"/>
            <a:ext cx="8124530" cy="1759591"/>
            <a:chOff x="0" y="0"/>
            <a:chExt cx="10832706" cy="2346122"/>
          </a:xfrm>
        </p:grpSpPr>
        <p:sp>
          <p:nvSpPr>
            <p:cNvPr id="18" name="Freeform 18"/>
            <p:cNvSpPr/>
            <p:nvPr/>
          </p:nvSpPr>
          <p:spPr>
            <a:xfrm>
              <a:off x="0" y="0"/>
              <a:ext cx="10832719" cy="2346198"/>
            </a:xfrm>
            <a:custGeom>
              <a:avLst/>
              <a:gdLst/>
              <a:ahLst/>
              <a:cxnLst/>
              <a:rect l="l" t="t" r="r" b="b"/>
              <a:pathLst>
                <a:path w="10832719" h="2346198">
                  <a:moveTo>
                    <a:pt x="0" y="185928"/>
                  </a:moveTo>
                  <a:cubicBezTo>
                    <a:pt x="0" y="83185"/>
                    <a:pt x="83185" y="0"/>
                    <a:pt x="185928" y="0"/>
                  </a:cubicBezTo>
                  <a:lnTo>
                    <a:pt x="10646791" y="0"/>
                  </a:lnTo>
                  <a:cubicBezTo>
                    <a:pt x="10749407" y="0"/>
                    <a:pt x="10832719" y="83185"/>
                    <a:pt x="10832719" y="185928"/>
                  </a:cubicBezTo>
                  <a:lnTo>
                    <a:pt x="10832719" y="2160270"/>
                  </a:lnTo>
                  <a:cubicBezTo>
                    <a:pt x="10832719" y="2262886"/>
                    <a:pt x="10749535" y="2346198"/>
                    <a:pt x="10646791" y="2346198"/>
                  </a:cubicBezTo>
                  <a:lnTo>
                    <a:pt x="185928" y="2346198"/>
                  </a:lnTo>
                  <a:cubicBezTo>
                    <a:pt x="83185" y="2346071"/>
                    <a:pt x="0" y="2262886"/>
                    <a:pt x="0" y="2160270"/>
                  </a:cubicBezTo>
                  <a:close/>
                </a:path>
              </a:pathLst>
            </a:custGeom>
            <a:solidFill>
              <a:srgbClr val="09151A">
                <a:alpha val="90196"/>
              </a:srgbClr>
            </a:solidFill>
            <a:ln w="28576" cap="sq">
              <a:solidFill>
                <a:srgbClr val="194A99"/>
              </a:solidFill>
              <a:prstDash val="solid"/>
              <a:miter/>
            </a:ln>
          </p:spPr>
        </p:sp>
      </p:grpSp>
      <p:grpSp>
        <p:nvGrpSpPr>
          <p:cNvPr id="19" name="Group 19"/>
          <p:cNvGrpSpPr/>
          <p:nvPr/>
        </p:nvGrpSpPr>
        <p:grpSpPr>
          <a:xfrm>
            <a:off x="9218714" y="5870372"/>
            <a:ext cx="114300" cy="1731016"/>
            <a:chOff x="0" y="0"/>
            <a:chExt cx="152400" cy="2308022"/>
          </a:xfrm>
        </p:grpSpPr>
        <p:sp>
          <p:nvSpPr>
            <p:cNvPr id="20" name="Freeform 20"/>
            <p:cNvSpPr/>
            <p:nvPr/>
          </p:nvSpPr>
          <p:spPr>
            <a:xfrm>
              <a:off x="0" y="0"/>
              <a:ext cx="152400" cy="2307971"/>
            </a:xfrm>
            <a:custGeom>
              <a:avLst/>
              <a:gdLst/>
              <a:ahLst/>
              <a:cxnLst/>
              <a:rect l="l" t="t" r="r" b="b"/>
              <a:pathLst>
                <a:path w="152400" h="2307971">
                  <a:moveTo>
                    <a:pt x="0" y="76200"/>
                  </a:moveTo>
                  <a:cubicBezTo>
                    <a:pt x="0" y="34163"/>
                    <a:pt x="34163" y="0"/>
                    <a:pt x="76200" y="0"/>
                  </a:cubicBezTo>
                  <a:cubicBezTo>
                    <a:pt x="118237" y="0"/>
                    <a:pt x="152400" y="34163"/>
                    <a:pt x="152400" y="76200"/>
                  </a:cubicBezTo>
                  <a:lnTo>
                    <a:pt x="152400" y="2231771"/>
                  </a:lnTo>
                  <a:cubicBezTo>
                    <a:pt x="152400" y="2273808"/>
                    <a:pt x="118237" y="2307971"/>
                    <a:pt x="76200" y="2307971"/>
                  </a:cubicBezTo>
                  <a:cubicBezTo>
                    <a:pt x="34163" y="2307971"/>
                    <a:pt x="0" y="2273808"/>
                    <a:pt x="0" y="2231771"/>
                  </a:cubicBezTo>
                  <a:close/>
                </a:path>
              </a:pathLst>
            </a:custGeom>
            <a:solidFill>
              <a:srgbClr val="609DFF"/>
            </a:solidFill>
          </p:spPr>
        </p:sp>
      </p:grpSp>
      <p:sp>
        <p:nvSpPr>
          <p:cNvPr id="21" name="TextBox 21"/>
          <p:cNvSpPr txBox="1"/>
          <p:nvPr/>
        </p:nvSpPr>
        <p:spPr>
          <a:xfrm>
            <a:off x="9597781" y="6116088"/>
            <a:ext cx="5947019" cy="355803"/>
          </a:xfrm>
          <a:prstGeom prst="rect">
            <a:avLst/>
          </a:prstGeom>
        </p:spPr>
        <p:txBody>
          <a:bodyPr wrap="square" lIns="0" tIns="0" rIns="0" bIns="0" rtlCol="0" anchor="t">
            <a:spAutoFit/>
          </a:bodyPr>
          <a:lstStyle/>
          <a:p>
            <a:pPr algn="l">
              <a:lnSpc>
                <a:spcPts val="2900"/>
              </a:lnSpc>
            </a:pPr>
            <a:r>
              <a:rPr lang="en-US" sz="2300" dirty="0">
                <a:solidFill>
                  <a:srgbClr val="E2E6E9"/>
                </a:solidFill>
                <a:latin typeface="Merriweather"/>
                <a:ea typeface="Merriweather"/>
                <a:cs typeface="Merriweather"/>
                <a:sym typeface="Merriweather"/>
              </a:rPr>
              <a:t>Multicollinearity Handling</a:t>
            </a:r>
          </a:p>
        </p:txBody>
      </p:sp>
      <p:sp>
        <p:nvSpPr>
          <p:cNvPr id="22" name="TextBox 22"/>
          <p:cNvSpPr txBox="1"/>
          <p:nvPr/>
        </p:nvSpPr>
        <p:spPr>
          <a:xfrm>
            <a:off x="9597781" y="6611738"/>
            <a:ext cx="7480697" cy="775097"/>
          </a:xfrm>
          <a:prstGeom prst="rect">
            <a:avLst/>
          </a:prstGeom>
        </p:spPr>
        <p:txBody>
          <a:bodyPr lIns="0" tIns="0" rIns="0" bIns="0" rtlCol="0" anchor="t">
            <a:spAutoFit/>
          </a:bodyPr>
          <a:lstStyle/>
          <a:p>
            <a:pPr algn="l">
              <a:lnSpc>
                <a:spcPts val="2700"/>
              </a:lnSpc>
            </a:pPr>
            <a:r>
              <a:rPr lang="en-US" sz="1800" dirty="0">
                <a:solidFill>
                  <a:srgbClr val="E2E6E9"/>
                </a:solidFill>
                <a:latin typeface="Merriweather"/>
                <a:ea typeface="Merriweather"/>
                <a:cs typeface="Merriweather"/>
                <a:sym typeface="Merriweather"/>
              </a:rPr>
              <a:t>Removed redundant binary variables, normalized duplicates, and hierarchical categorical variables</a:t>
            </a:r>
          </a:p>
        </p:txBody>
      </p:sp>
      <p:grpSp>
        <p:nvGrpSpPr>
          <p:cNvPr id="23" name="Group 23"/>
          <p:cNvGrpSpPr/>
          <p:nvPr/>
        </p:nvGrpSpPr>
        <p:grpSpPr>
          <a:xfrm>
            <a:off x="930469" y="7793679"/>
            <a:ext cx="8124530" cy="1759591"/>
            <a:chOff x="0" y="0"/>
            <a:chExt cx="10832706" cy="2346122"/>
          </a:xfrm>
        </p:grpSpPr>
        <p:sp>
          <p:nvSpPr>
            <p:cNvPr id="24" name="Freeform 24"/>
            <p:cNvSpPr/>
            <p:nvPr/>
          </p:nvSpPr>
          <p:spPr>
            <a:xfrm>
              <a:off x="0" y="0"/>
              <a:ext cx="10832719" cy="2346198"/>
            </a:xfrm>
            <a:custGeom>
              <a:avLst/>
              <a:gdLst/>
              <a:ahLst/>
              <a:cxnLst/>
              <a:rect l="l" t="t" r="r" b="b"/>
              <a:pathLst>
                <a:path w="10832719" h="2346198">
                  <a:moveTo>
                    <a:pt x="0" y="185928"/>
                  </a:moveTo>
                  <a:cubicBezTo>
                    <a:pt x="0" y="83185"/>
                    <a:pt x="83185" y="0"/>
                    <a:pt x="185928" y="0"/>
                  </a:cubicBezTo>
                  <a:lnTo>
                    <a:pt x="10646791" y="0"/>
                  </a:lnTo>
                  <a:cubicBezTo>
                    <a:pt x="10749407" y="0"/>
                    <a:pt x="10832719" y="83185"/>
                    <a:pt x="10832719" y="185928"/>
                  </a:cubicBezTo>
                  <a:lnTo>
                    <a:pt x="10832719" y="2160270"/>
                  </a:lnTo>
                  <a:cubicBezTo>
                    <a:pt x="10832719" y="2262886"/>
                    <a:pt x="10749535" y="2346198"/>
                    <a:pt x="10646791" y="2346198"/>
                  </a:cubicBezTo>
                  <a:lnTo>
                    <a:pt x="185928" y="2346198"/>
                  </a:lnTo>
                  <a:cubicBezTo>
                    <a:pt x="83185" y="2346071"/>
                    <a:pt x="0" y="2262886"/>
                    <a:pt x="0" y="2160270"/>
                  </a:cubicBezTo>
                  <a:close/>
                </a:path>
              </a:pathLst>
            </a:custGeom>
            <a:solidFill>
              <a:srgbClr val="09151A">
                <a:alpha val="90196"/>
              </a:srgbClr>
            </a:solidFill>
            <a:ln w="28576" cap="sq">
              <a:solidFill>
                <a:srgbClr val="194A99"/>
              </a:solidFill>
              <a:prstDash val="solid"/>
              <a:miter/>
            </a:ln>
          </p:spPr>
        </p:sp>
      </p:grpSp>
      <p:grpSp>
        <p:nvGrpSpPr>
          <p:cNvPr id="25" name="Group 25"/>
          <p:cNvGrpSpPr/>
          <p:nvPr/>
        </p:nvGrpSpPr>
        <p:grpSpPr>
          <a:xfrm>
            <a:off x="916191" y="7807966"/>
            <a:ext cx="114300" cy="1731016"/>
            <a:chOff x="0" y="0"/>
            <a:chExt cx="152400" cy="2308022"/>
          </a:xfrm>
        </p:grpSpPr>
        <p:sp>
          <p:nvSpPr>
            <p:cNvPr id="26" name="Freeform 26"/>
            <p:cNvSpPr/>
            <p:nvPr/>
          </p:nvSpPr>
          <p:spPr>
            <a:xfrm>
              <a:off x="0" y="0"/>
              <a:ext cx="152400" cy="2307971"/>
            </a:xfrm>
            <a:custGeom>
              <a:avLst/>
              <a:gdLst/>
              <a:ahLst/>
              <a:cxnLst/>
              <a:rect l="l" t="t" r="r" b="b"/>
              <a:pathLst>
                <a:path w="152400" h="2307971">
                  <a:moveTo>
                    <a:pt x="0" y="76200"/>
                  </a:moveTo>
                  <a:cubicBezTo>
                    <a:pt x="0" y="34163"/>
                    <a:pt x="34163" y="0"/>
                    <a:pt x="76200" y="0"/>
                  </a:cubicBezTo>
                  <a:cubicBezTo>
                    <a:pt x="118237" y="0"/>
                    <a:pt x="152400" y="34163"/>
                    <a:pt x="152400" y="76200"/>
                  </a:cubicBezTo>
                  <a:lnTo>
                    <a:pt x="152400" y="2231771"/>
                  </a:lnTo>
                  <a:cubicBezTo>
                    <a:pt x="152400" y="2273808"/>
                    <a:pt x="118237" y="2307971"/>
                    <a:pt x="76200" y="2307971"/>
                  </a:cubicBezTo>
                  <a:cubicBezTo>
                    <a:pt x="34163" y="2307971"/>
                    <a:pt x="0" y="2273808"/>
                    <a:pt x="0" y="2231771"/>
                  </a:cubicBezTo>
                  <a:close/>
                </a:path>
              </a:pathLst>
            </a:custGeom>
            <a:solidFill>
              <a:srgbClr val="609DFF"/>
            </a:solidFill>
          </p:spPr>
        </p:sp>
      </p:grpSp>
      <p:sp>
        <p:nvSpPr>
          <p:cNvPr id="27" name="TextBox 27"/>
          <p:cNvSpPr txBox="1"/>
          <p:nvPr/>
        </p:nvSpPr>
        <p:spPr>
          <a:xfrm>
            <a:off x="1295248" y="8053683"/>
            <a:ext cx="2952750" cy="388144"/>
          </a:xfrm>
          <a:prstGeom prst="rect">
            <a:avLst/>
          </a:prstGeom>
        </p:spPr>
        <p:txBody>
          <a:bodyPr lIns="0" tIns="0" rIns="0" bIns="0" rtlCol="0" anchor="t">
            <a:spAutoFit/>
          </a:bodyPr>
          <a:lstStyle/>
          <a:p>
            <a:pPr algn="l">
              <a:lnSpc>
                <a:spcPts val="2900"/>
              </a:lnSpc>
            </a:pPr>
            <a:r>
              <a:rPr lang="en-US" sz="2300">
                <a:solidFill>
                  <a:srgbClr val="E2E6E9"/>
                </a:solidFill>
                <a:latin typeface="Merriweather"/>
                <a:ea typeface="Merriweather"/>
                <a:cs typeface="Merriweather"/>
                <a:sym typeface="Merriweather"/>
              </a:rPr>
              <a:t>Model Selection</a:t>
            </a:r>
          </a:p>
        </p:txBody>
      </p:sp>
      <p:sp>
        <p:nvSpPr>
          <p:cNvPr id="28" name="TextBox 28"/>
          <p:cNvSpPr txBox="1"/>
          <p:nvPr/>
        </p:nvSpPr>
        <p:spPr>
          <a:xfrm>
            <a:off x="1295248" y="8499129"/>
            <a:ext cx="7480697" cy="775097"/>
          </a:xfrm>
          <a:prstGeom prst="rect">
            <a:avLst/>
          </a:prstGeom>
        </p:spPr>
        <p:txBody>
          <a:bodyPr lIns="0" tIns="0" rIns="0" bIns="0" rtlCol="0" anchor="t">
            <a:spAutoFit/>
          </a:bodyPr>
          <a:lstStyle/>
          <a:p>
            <a:pPr algn="l">
              <a:lnSpc>
                <a:spcPts val="2700"/>
              </a:lnSpc>
            </a:pPr>
            <a:r>
              <a:rPr lang="en-US" sz="1800">
                <a:solidFill>
                  <a:srgbClr val="E2E6E9"/>
                </a:solidFill>
                <a:latin typeface="Merriweather"/>
                <a:ea typeface="Merriweather"/>
                <a:cs typeface="Merriweather"/>
                <a:sym typeface="Merriweather"/>
              </a:rPr>
              <a:t>Stepwise regression using AIC, BIC, and Adjusted R-squared for comparison</a:t>
            </a:r>
          </a:p>
        </p:txBody>
      </p:sp>
      <p:grpSp>
        <p:nvGrpSpPr>
          <p:cNvPr id="29" name="Group 29"/>
          <p:cNvGrpSpPr/>
          <p:nvPr/>
        </p:nvGrpSpPr>
        <p:grpSpPr>
          <a:xfrm>
            <a:off x="9233002" y="7793679"/>
            <a:ext cx="8124530" cy="1759591"/>
            <a:chOff x="0" y="0"/>
            <a:chExt cx="10832706" cy="2346122"/>
          </a:xfrm>
        </p:grpSpPr>
        <p:sp>
          <p:nvSpPr>
            <p:cNvPr id="30" name="Freeform 30"/>
            <p:cNvSpPr/>
            <p:nvPr/>
          </p:nvSpPr>
          <p:spPr>
            <a:xfrm>
              <a:off x="0" y="0"/>
              <a:ext cx="10832719" cy="2346198"/>
            </a:xfrm>
            <a:custGeom>
              <a:avLst/>
              <a:gdLst/>
              <a:ahLst/>
              <a:cxnLst/>
              <a:rect l="l" t="t" r="r" b="b"/>
              <a:pathLst>
                <a:path w="10832719" h="2346198">
                  <a:moveTo>
                    <a:pt x="0" y="185928"/>
                  </a:moveTo>
                  <a:cubicBezTo>
                    <a:pt x="0" y="83185"/>
                    <a:pt x="83185" y="0"/>
                    <a:pt x="185928" y="0"/>
                  </a:cubicBezTo>
                  <a:lnTo>
                    <a:pt x="10646791" y="0"/>
                  </a:lnTo>
                  <a:cubicBezTo>
                    <a:pt x="10749407" y="0"/>
                    <a:pt x="10832719" y="83185"/>
                    <a:pt x="10832719" y="185928"/>
                  </a:cubicBezTo>
                  <a:lnTo>
                    <a:pt x="10832719" y="2160270"/>
                  </a:lnTo>
                  <a:cubicBezTo>
                    <a:pt x="10832719" y="2262886"/>
                    <a:pt x="10749535" y="2346198"/>
                    <a:pt x="10646791" y="2346198"/>
                  </a:cubicBezTo>
                  <a:lnTo>
                    <a:pt x="185928" y="2346198"/>
                  </a:lnTo>
                  <a:cubicBezTo>
                    <a:pt x="83185" y="2346071"/>
                    <a:pt x="0" y="2262886"/>
                    <a:pt x="0" y="2160270"/>
                  </a:cubicBezTo>
                  <a:close/>
                </a:path>
              </a:pathLst>
            </a:custGeom>
            <a:solidFill>
              <a:srgbClr val="09151A">
                <a:alpha val="90196"/>
              </a:srgbClr>
            </a:solidFill>
            <a:ln w="28576" cap="sq">
              <a:solidFill>
                <a:srgbClr val="194A99"/>
              </a:solidFill>
              <a:prstDash val="solid"/>
              <a:miter/>
            </a:ln>
          </p:spPr>
        </p:sp>
      </p:grpSp>
      <p:grpSp>
        <p:nvGrpSpPr>
          <p:cNvPr id="31" name="Group 31"/>
          <p:cNvGrpSpPr/>
          <p:nvPr/>
        </p:nvGrpSpPr>
        <p:grpSpPr>
          <a:xfrm>
            <a:off x="9218714" y="7807966"/>
            <a:ext cx="114300" cy="1731016"/>
            <a:chOff x="0" y="0"/>
            <a:chExt cx="152400" cy="2308022"/>
          </a:xfrm>
        </p:grpSpPr>
        <p:sp>
          <p:nvSpPr>
            <p:cNvPr id="32" name="Freeform 32"/>
            <p:cNvSpPr/>
            <p:nvPr/>
          </p:nvSpPr>
          <p:spPr>
            <a:xfrm>
              <a:off x="0" y="0"/>
              <a:ext cx="152400" cy="2307971"/>
            </a:xfrm>
            <a:custGeom>
              <a:avLst/>
              <a:gdLst/>
              <a:ahLst/>
              <a:cxnLst/>
              <a:rect l="l" t="t" r="r" b="b"/>
              <a:pathLst>
                <a:path w="152400" h="2307971">
                  <a:moveTo>
                    <a:pt x="0" y="76200"/>
                  </a:moveTo>
                  <a:cubicBezTo>
                    <a:pt x="0" y="34163"/>
                    <a:pt x="34163" y="0"/>
                    <a:pt x="76200" y="0"/>
                  </a:cubicBezTo>
                  <a:cubicBezTo>
                    <a:pt x="118237" y="0"/>
                    <a:pt x="152400" y="34163"/>
                    <a:pt x="152400" y="76200"/>
                  </a:cubicBezTo>
                  <a:lnTo>
                    <a:pt x="152400" y="2231771"/>
                  </a:lnTo>
                  <a:cubicBezTo>
                    <a:pt x="152400" y="2273808"/>
                    <a:pt x="118237" y="2307971"/>
                    <a:pt x="76200" y="2307971"/>
                  </a:cubicBezTo>
                  <a:cubicBezTo>
                    <a:pt x="34163" y="2307971"/>
                    <a:pt x="0" y="2273808"/>
                    <a:pt x="0" y="2231771"/>
                  </a:cubicBezTo>
                  <a:close/>
                </a:path>
              </a:pathLst>
            </a:custGeom>
            <a:solidFill>
              <a:srgbClr val="609DFF"/>
            </a:solidFill>
          </p:spPr>
        </p:sp>
      </p:grpSp>
      <p:sp>
        <p:nvSpPr>
          <p:cNvPr id="33" name="TextBox 33"/>
          <p:cNvSpPr txBox="1"/>
          <p:nvPr/>
        </p:nvSpPr>
        <p:spPr>
          <a:xfrm>
            <a:off x="9597781" y="8053683"/>
            <a:ext cx="2952750" cy="388144"/>
          </a:xfrm>
          <a:prstGeom prst="rect">
            <a:avLst/>
          </a:prstGeom>
        </p:spPr>
        <p:txBody>
          <a:bodyPr lIns="0" tIns="0" rIns="0" bIns="0" rtlCol="0" anchor="t">
            <a:spAutoFit/>
          </a:bodyPr>
          <a:lstStyle/>
          <a:p>
            <a:pPr algn="l">
              <a:lnSpc>
                <a:spcPts val="2900"/>
              </a:lnSpc>
            </a:pPr>
            <a:r>
              <a:rPr lang="en-US" sz="2300">
                <a:solidFill>
                  <a:srgbClr val="E2E6E9"/>
                </a:solidFill>
                <a:latin typeface="Merriweather"/>
                <a:ea typeface="Merriweather"/>
                <a:cs typeface="Merriweather"/>
                <a:sym typeface="Merriweather"/>
              </a:rPr>
              <a:t>Regularization</a:t>
            </a:r>
          </a:p>
        </p:txBody>
      </p:sp>
      <p:sp>
        <p:nvSpPr>
          <p:cNvPr id="34" name="TextBox 34"/>
          <p:cNvSpPr txBox="1"/>
          <p:nvPr/>
        </p:nvSpPr>
        <p:spPr>
          <a:xfrm>
            <a:off x="9597781" y="8499129"/>
            <a:ext cx="7480697" cy="775097"/>
          </a:xfrm>
          <a:prstGeom prst="rect">
            <a:avLst/>
          </a:prstGeom>
        </p:spPr>
        <p:txBody>
          <a:bodyPr lIns="0" tIns="0" rIns="0" bIns="0" rtlCol="0" anchor="t">
            <a:spAutoFit/>
          </a:bodyPr>
          <a:lstStyle/>
          <a:p>
            <a:pPr algn="l">
              <a:lnSpc>
                <a:spcPts val="2700"/>
              </a:lnSpc>
            </a:pPr>
            <a:r>
              <a:rPr lang="en-US" sz="1800">
                <a:solidFill>
                  <a:srgbClr val="E2E6E9"/>
                </a:solidFill>
                <a:latin typeface="Merriweather"/>
                <a:ea typeface="Merriweather"/>
                <a:cs typeface="Merriweather"/>
                <a:sym typeface="Merriweather"/>
              </a:rPr>
              <a:t>Ridge, LASSO, and Elastic Net to reduce overfitting and handle multicollinearity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515968" y="698002"/>
            <a:ext cx="7571632" cy="491673"/>
          </a:xfrm>
          <a:prstGeom prst="rect">
            <a:avLst/>
          </a:prstGeom>
        </p:spPr>
        <p:txBody>
          <a:bodyPr wrap="square" lIns="0" tIns="0" rIns="0" bIns="0" rtlCol="0" anchor="t">
            <a:spAutoFit/>
          </a:bodyPr>
          <a:lstStyle/>
          <a:p>
            <a:pPr algn="l">
              <a:lnSpc>
                <a:spcPts val="4000"/>
              </a:lnSpc>
            </a:pPr>
            <a:r>
              <a:rPr lang="en-US" sz="3200" dirty="0">
                <a:solidFill>
                  <a:srgbClr val="F5F0F0"/>
                </a:solidFill>
                <a:latin typeface="Merriweather"/>
                <a:ea typeface="Merriweather"/>
                <a:cs typeface="Merriweather"/>
                <a:sym typeface="Merriweather"/>
              </a:rPr>
              <a:t>Linear Regression Results</a:t>
            </a:r>
          </a:p>
        </p:txBody>
      </p:sp>
      <p:sp>
        <p:nvSpPr>
          <p:cNvPr id="9" name="TextBox 9"/>
          <p:cNvSpPr txBox="1"/>
          <p:nvPr/>
        </p:nvSpPr>
        <p:spPr>
          <a:xfrm>
            <a:off x="7515968" y="1539631"/>
            <a:ext cx="10114064" cy="466573"/>
          </a:xfrm>
          <a:prstGeom prst="rect">
            <a:avLst/>
          </a:prstGeom>
        </p:spPr>
        <p:txBody>
          <a:bodyPr lIns="0" tIns="0" rIns="0" bIns="0" rtlCol="0" anchor="t">
            <a:spAutoFit/>
          </a:bodyPr>
          <a:lstStyle/>
          <a:p>
            <a:pPr algn="ctr">
              <a:lnSpc>
                <a:spcPts val="4200"/>
              </a:lnSpc>
            </a:pPr>
            <a:r>
              <a:rPr lang="en-US" sz="4200">
                <a:solidFill>
                  <a:srgbClr val="E2E6E9"/>
                </a:solidFill>
                <a:latin typeface="Merriweather"/>
                <a:ea typeface="Merriweather"/>
                <a:cs typeface="Merriweather"/>
                <a:sym typeface="Merriweather"/>
              </a:rPr>
              <a:t>0.298</a:t>
            </a:r>
          </a:p>
        </p:txBody>
      </p:sp>
      <p:sp>
        <p:nvSpPr>
          <p:cNvPr id="10" name="TextBox 10"/>
          <p:cNvSpPr txBox="1"/>
          <p:nvPr/>
        </p:nvSpPr>
        <p:spPr>
          <a:xfrm>
            <a:off x="11544748" y="2153993"/>
            <a:ext cx="2056362" cy="266548"/>
          </a:xfrm>
          <a:prstGeom prst="rect">
            <a:avLst/>
          </a:prstGeom>
        </p:spPr>
        <p:txBody>
          <a:bodyPr lIns="0" tIns="0" rIns="0" bIns="0" rtlCol="0" anchor="t">
            <a:spAutoFit/>
          </a:bodyPr>
          <a:lstStyle/>
          <a:p>
            <a:pPr algn="ctr">
              <a:lnSpc>
                <a:spcPts val="2000"/>
              </a:lnSpc>
            </a:pPr>
            <a:r>
              <a:rPr lang="en-US" sz="1600">
                <a:solidFill>
                  <a:srgbClr val="E2E6E9"/>
                </a:solidFill>
                <a:latin typeface="Merriweather"/>
                <a:ea typeface="Merriweather"/>
                <a:cs typeface="Merriweather"/>
                <a:sym typeface="Merriweather"/>
              </a:rPr>
              <a:t>RMSE</a:t>
            </a:r>
          </a:p>
        </p:txBody>
      </p:sp>
      <p:sp>
        <p:nvSpPr>
          <p:cNvPr id="11" name="TextBox 11"/>
          <p:cNvSpPr txBox="1"/>
          <p:nvPr/>
        </p:nvSpPr>
        <p:spPr>
          <a:xfrm>
            <a:off x="7515968" y="2461622"/>
            <a:ext cx="10114064" cy="230686"/>
          </a:xfrm>
          <a:prstGeom prst="rect">
            <a:avLst/>
          </a:prstGeom>
        </p:spPr>
        <p:txBody>
          <a:bodyPr lIns="0" tIns="0" rIns="0" bIns="0" rtlCol="0" anchor="t">
            <a:spAutoFit/>
          </a:bodyPr>
          <a:lstStyle/>
          <a:p>
            <a:pPr algn="ctr">
              <a:lnSpc>
                <a:spcPts val="1600"/>
              </a:lnSpc>
            </a:pPr>
            <a:r>
              <a:rPr lang="en-US" sz="1200">
                <a:solidFill>
                  <a:srgbClr val="E2E6E9"/>
                </a:solidFill>
                <a:latin typeface="Merriweather"/>
                <a:ea typeface="Merriweather"/>
                <a:cs typeface="Merriweather"/>
                <a:sym typeface="Merriweather"/>
              </a:rPr>
              <a:t>Root Mean Square Error on test set</a:t>
            </a:r>
          </a:p>
        </p:txBody>
      </p:sp>
      <p:sp>
        <p:nvSpPr>
          <p:cNvPr id="12" name="TextBox 12"/>
          <p:cNvSpPr txBox="1"/>
          <p:nvPr/>
        </p:nvSpPr>
        <p:spPr>
          <a:xfrm>
            <a:off x="7515968" y="3051124"/>
            <a:ext cx="10114064" cy="466573"/>
          </a:xfrm>
          <a:prstGeom prst="rect">
            <a:avLst/>
          </a:prstGeom>
        </p:spPr>
        <p:txBody>
          <a:bodyPr lIns="0" tIns="0" rIns="0" bIns="0" rtlCol="0" anchor="t">
            <a:spAutoFit/>
          </a:bodyPr>
          <a:lstStyle/>
          <a:p>
            <a:pPr algn="ctr">
              <a:lnSpc>
                <a:spcPts val="4200"/>
              </a:lnSpc>
            </a:pPr>
            <a:r>
              <a:rPr lang="en-US" sz="4200" dirty="0">
                <a:solidFill>
                  <a:srgbClr val="E2E6E9"/>
                </a:solidFill>
                <a:latin typeface="Merriweather"/>
                <a:ea typeface="Merriweather"/>
                <a:cs typeface="Merriweather"/>
                <a:sym typeface="Merriweather"/>
              </a:rPr>
              <a:t>0.224</a:t>
            </a:r>
          </a:p>
        </p:txBody>
      </p:sp>
      <p:sp>
        <p:nvSpPr>
          <p:cNvPr id="13" name="TextBox 13"/>
          <p:cNvSpPr txBox="1"/>
          <p:nvPr/>
        </p:nvSpPr>
        <p:spPr>
          <a:xfrm>
            <a:off x="11544748" y="3665487"/>
            <a:ext cx="2056362" cy="266548"/>
          </a:xfrm>
          <a:prstGeom prst="rect">
            <a:avLst/>
          </a:prstGeom>
        </p:spPr>
        <p:txBody>
          <a:bodyPr lIns="0" tIns="0" rIns="0" bIns="0" rtlCol="0" anchor="t">
            <a:spAutoFit/>
          </a:bodyPr>
          <a:lstStyle/>
          <a:p>
            <a:pPr algn="ctr">
              <a:lnSpc>
                <a:spcPts val="2000"/>
              </a:lnSpc>
            </a:pPr>
            <a:r>
              <a:rPr lang="en-US" sz="1600">
                <a:solidFill>
                  <a:srgbClr val="E2E6E9"/>
                </a:solidFill>
                <a:latin typeface="Merriweather"/>
                <a:ea typeface="Merriweather"/>
                <a:cs typeface="Merriweather"/>
                <a:sym typeface="Merriweather"/>
              </a:rPr>
              <a:t>MAE</a:t>
            </a:r>
          </a:p>
        </p:txBody>
      </p:sp>
      <p:sp>
        <p:nvSpPr>
          <p:cNvPr id="14" name="TextBox 14"/>
          <p:cNvSpPr txBox="1"/>
          <p:nvPr/>
        </p:nvSpPr>
        <p:spPr>
          <a:xfrm>
            <a:off x="7515968" y="3973116"/>
            <a:ext cx="10114064" cy="230686"/>
          </a:xfrm>
          <a:prstGeom prst="rect">
            <a:avLst/>
          </a:prstGeom>
        </p:spPr>
        <p:txBody>
          <a:bodyPr lIns="0" tIns="0" rIns="0" bIns="0" rtlCol="0" anchor="t">
            <a:spAutoFit/>
          </a:bodyPr>
          <a:lstStyle/>
          <a:p>
            <a:pPr algn="ctr">
              <a:lnSpc>
                <a:spcPts val="1600"/>
              </a:lnSpc>
            </a:pPr>
            <a:r>
              <a:rPr lang="en-US" sz="1200">
                <a:solidFill>
                  <a:srgbClr val="E2E6E9"/>
                </a:solidFill>
                <a:latin typeface="Merriweather"/>
                <a:ea typeface="Merriweather"/>
                <a:cs typeface="Merriweather"/>
                <a:sym typeface="Merriweather"/>
              </a:rPr>
              <a:t>Mean Absolute Error on test set</a:t>
            </a:r>
          </a:p>
        </p:txBody>
      </p:sp>
      <p:sp>
        <p:nvSpPr>
          <p:cNvPr id="15" name="TextBox 15"/>
          <p:cNvSpPr txBox="1"/>
          <p:nvPr/>
        </p:nvSpPr>
        <p:spPr>
          <a:xfrm>
            <a:off x="7515968" y="4562627"/>
            <a:ext cx="10114064" cy="466573"/>
          </a:xfrm>
          <a:prstGeom prst="rect">
            <a:avLst/>
          </a:prstGeom>
        </p:spPr>
        <p:txBody>
          <a:bodyPr lIns="0" tIns="0" rIns="0" bIns="0" rtlCol="0" anchor="t">
            <a:spAutoFit/>
          </a:bodyPr>
          <a:lstStyle/>
          <a:p>
            <a:pPr algn="ctr">
              <a:lnSpc>
                <a:spcPts val="4200"/>
              </a:lnSpc>
            </a:pPr>
            <a:r>
              <a:rPr lang="en-US" sz="4200">
                <a:solidFill>
                  <a:srgbClr val="E2E6E9"/>
                </a:solidFill>
                <a:latin typeface="Merriweather"/>
                <a:ea typeface="Merriweather"/>
                <a:cs typeface="Merriweather"/>
                <a:sym typeface="Merriweather"/>
              </a:rPr>
              <a:t>0.837</a:t>
            </a:r>
          </a:p>
        </p:txBody>
      </p:sp>
      <p:sp>
        <p:nvSpPr>
          <p:cNvPr id="16" name="TextBox 16"/>
          <p:cNvSpPr txBox="1"/>
          <p:nvPr/>
        </p:nvSpPr>
        <p:spPr>
          <a:xfrm>
            <a:off x="11544748" y="5176990"/>
            <a:ext cx="2056362" cy="266548"/>
          </a:xfrm>
          <a:prstGeom prst="rect">
            <a:avLst/>
          </a:prstGeom>
        </p:spPr>
        <p:txBody>
          <a:bodyPr lIns="0" tIns="0" rIns="0" bIns="0" rtlCol="0" anchor="t">
            <a:spAutoFit/>
          </a:bodyPr>
          <a:lstStyle/>
          <a:p>
            <a:pPr algn="ctr">
              <a:lnSpc>
                <a:spcPts val="2000"/>
              </a:lnSpc>
            </a:pPr>
            <a:r>
              <a:rPr lang="en-US" sz="1600">
                <a:solidFill>
                  <a:srgbClr val="E2E6E9"/>
                </a:solidFill>
                <a:latin typeface="Merriweather"/>
                <a:ea typeface="Merriweather"/>
                <a:cs typeface="Merriweather"/>
                <a:sym typeface="Merriweather"/>
              </a:rPr>
              <a:t>R-squared</a:t>
            </a:r>
          </a:p>
        </p:txBody>
      </p:sp>
      <p:sp>
        <p:nvSpPr>
          <p:cNvPr id="17" name="TextBox 17"/>
          <p:cNvSpPr txBox="1"/>
          <p:nvPr/>
        </p:nvSpPr>
        <p:spPr>
          <a:xfrm>
            <a:off x="7515968" y="5484609"/>
            <a:ext cx="10114064" cy="230686"/>
          </a:xfrm>
          <a:prstGeom prst="rect">
            <a:avLst/>
          </a:prstGeom>
        </p:spPr>
        <p:txBody>
          <a:bodyPr lIns="0" tIns="0" rIns="0" bIns="0" rtlCol="0" anchor="t">
            <a:spAutoFit/>
          </a:bodyPr>
          <a:lstStyle/>
          <a:p>
            <a:pPr algn="ctr">
              <a:lnSpc>
                <a:spcPts val="1600"/>
              </a:lnSpc>
            </a:pPr>
            <a:r>
              <a:rPr lang="en-US" sz="1200">
                <a:solidFill>
                  <a:srgbClr val="E2E6E9"/>
                </a:solidFill>
                <a:latin typeface="Merriweather"/>
                <a:ea typeface="Merriweather"/>
                <a:cs typeface="Merriweather"/>
                <a:sym typeface="Merriweather"/>
              </a:rPr>
              <a:t>Proportion of variance explained</a:t>
            </a:r>
          </a:p>
        </p:txBody>
      </p:sp>
      <p:sp>
        <p:nvSpPr>
          <p:cNvPr id="18" name="TextBox 18"/>
          <p:cNvSpPr txBox="1"/>
          <p:nvPr/>
        </p:nvSpPr>
        <p:spPr>
          <a:xfrm>
            <a:off x="7515968" y="6074121"/>
            <a:ext cx="10114064" cy="466573"/>
          </a:xfrm>
          <a:prstGeom prst="rect">
            <a:avLst/>
          </a:prstGeom>
        </p:spPr>
        <p:txBody>
          <a:bodyPr lIns="0" tIns="0" rIns="0" bIns="0" rtlCol="0" anchor="t">
            <a:spAutoFit/>
          </a:bodyPr>
          <a:lstStyle/>
          <a:p>
            <a:pPr algn="ctr">
              <a:lnSpc>
                <a:spcPts val="4200"/>
              </a:lnSpc>
            </a:pPr>
            <a:r>
              <a:rPr lang="en-US" sz="4200">
                <a:solidFill>
                  <a:srgbClr val="E2E6E9"/>
                </a:solidFill>
                <a:latin typeface="Merriweather"/>
                <a:ea typeface="Merriweather"/>
                <a:cs typeface="Merriweather"/>
                <a:sym typeface="Merriweather"/>
              </a:rPr>
              <a:t>3569</a:t>
            </a:r>
          </a:p>
        </p:txBody>
      </p:sp>
      <p:sp>
        <p:nvSpPr>
          <p:cNvPr id="19" name="TextBox 19"/>
          <p:cNvSpPr txBox="1"/>
          <p:nvPr/>
        </p:nvSpPr>
        <p:spPr>
          <a:xfrm>
            <a:off x="11544748" y="6688484"/>
            <a:ext cx="2056362" cy="266548"/>
          </a:xfrm>
          <a:prstGeom prst="rect">
            <a:avLst/>
          </a:prstGeom>
        </p:spPr>
        <p:txBody>
          <a:bodyPr lIns="0" tIns="0" rIns="0" bIns="0" rtlCol="0" anchor="t">
            <a:spAutoFit/>
          </a:bodyPr>
          <a:lstStyle/>
          <a:p>
            <a:pPr algn="ctr">
              <a:lnSpc>
                <a:spcPts val="2000"/>
              </a:lnSpc>
            </a:pPr>
            <a:r>
              <a:rPr lang="en-US" sz="1600">
                <a:solidFill>
                  <a:srgbClr val="E2E6E9"/>
                </a:solidFill>
                <a:latin typeface="Merriweather"/>
                <a:ea typeface="Merriweather"/>
                <a:cs typeface="Merriweather"/>
                <a:sym typeface="Merriweather"/>
              </a:rPr>
              <a:t>F-statistic</a:t>
            </a:r>
          </a:p>
        </p:txBody>
      </p:sp>
      <p:sp>
        <p:nvSpPr>
          <p:cNvPr id="20" name="TextBox 20"/>
          <p:cNvSpPr txBox="1"/>
          <p:nvPr/>
        </p:nvSpPr>
        <p:spPr>
          <a:xfrm>
            <a:off x="7515968" y="6996112"/>
            <a:ext cx="10114064" cy="230686"/>
          </a:xfrm>
          <a:prstGeom prst="rect">
            <a:avLst/>
          </a:prstGeom>
        </p:spPr>
        <p:txBody>
          <a:bodyPr lIns="0" tIns="0" rIns="0" bIns="0" rtlCol="0" anchor="t">
            <a:spAutoFit/>
          </a:bodyPr>
          <a:lstStyle/>
          <a:p>
            <a:pPr algn="ctr">
              <a:lnSpc>
                <a:spcPts val="1600"/>
              </a:lnSpc>
            </a:pPr>
            <a:r>
              <a:rPr lang="en-US" sz="1200">
                <a:solidFill>
                  <a:srgbClr val="E2E6E9"/>
                </a:solidFill>
                <a:latin typeface="Merriweather"/>
                <a:ea typeface="Merriweather"/>
                <a:cs typeface="Merriweather"/>
                <a:sym typeface="Merriweather"/>
              </a:rPr>
              <a:t>Model significance test</a:t>
            </a:r>
          </a:p>
        </p:txBody>
      </p:sp>
      <p:sp>
        <p:nvSpPr>
          <p:cNvPr id="21" name="TextBox 21"/>
          <p:cNvSpPr txBox="1"/>
          <p:nvPr/>
        </p:nvSpPr>
        <p:spPr>
          <a:xfrm>
            <a:off x="7515968" y="7320410"/>
            <a:ext cx="10114064" cy="442322"/>
          </a:xfrm>
          <a:prstGeom prst="rect">
            <a:avLst/>
          </a:prstGeom>
        </p:spPr>
        <p:txBody>
          <a:bodyPr lIns="0" tIns="0" rIns="0" bIns="0" rtlCol="0" anchor="t">
            <a:spAutoFit/>
          </a:bodyPr>
          <a:lstStyle/>
          <a:p>
            <a:pPr algn="l">
              <a:lnSpc>
                <a:spcPts val="1600"/>
              </a:lnSpc>
            </a:pPr>
            <a:r>
              <a:rPr lang="en-US" sz="1200">
                <a:solidFill>
                  <a:srgbClr val="E2E6E9"/>
                </a:solidFill>
                <a:latin typeface="Merriweather"/>
                <a:ea typeface="Merriweather"/>
                <a:cs typeface="Merriweather"/>
                <a:sym typeface="Merriweather"/>
              </a:rPr>
              <a:t>The multiple linear regression model achieved strong performance with an R-squared of 0.837, indicating that 83.7% of price variation is explained by the predictors. The model showed statistical significance with F-statistic of 3569 (p-value &lt; 2.2e-16).</a:t>
            </a:r>
          </a:p>
        </p:txBody>
      </p:sp>
      <p:sp>
        <p:nvSpPr>
          <p:cNvPr id="22" name="TextBox 22"/>
          <p:cNvSpPr txBox="1"/>
          <p:nvPr/>
        </p:nvSpPr>
        <p:spPr>
          <a:xfrm>
            <a:off x="7515968" y="7893996"/>
            <a:ext cx="5590432" cy="294311"/>
          </a:xfrm>
          <a:prstGeom prst="rect">
            <a:avLst/>
          </a:prstGeom>
        </p:spPr>
        <p:txBody>
          <a:bodyPr wrap="square" lIns="0" tIns="0" rIns="0" bIns="0" rtlCol="0" anchor="t">
            <a:spAutoFit/>
          </a:bodyPr>
          <a:lstStyle/>
          <a:p>
            <a:pPr algn="l">
              <a:lnSpc>
                <a:spcPts val="2400"/>
              </a:lnSpc>
            </a:pPr>
            <a:r>
              <a:rPr lang="en-US" sz="1900" dirty="0">
                <a:solidFill>
                  <a:srgbClr val="F5F0F0"/>
                </a:solidFill>
                <a:latin typeface="Merriweather"/>
                <a:ea typeface="Merriweather"/>
                <a:cs typeface="Merriweather"/>
                <a:sym typeface="Merriweather"/>
              </a:rPr>
              <a:t>Key Predictor Insights</a:t>
            </a:r>
          </a:p>
        </p:txBody>
      </p:sp>
      <p:sp>
        <p:nvSpPr>
          <p:cNvPr id="23" name="TextBox 23"/>
          <p:cNvSpPr txBox="1"/>
          <p:nvPr/>
        </p:nvSpPr>
        <p:spPr>
          <a:xfrm>
            <a:off x="7515968" y="8352682"/>
            <a:ext cx="10114064" cy="1217114"/>
          </a:xfrm>
          <a:prstGeom prst="rect">
            <a:avLst/>
          </a:prstGeom>
        </p:spPr>
        <p:txBody>
          <a:bodyPr lIns="0" tIns="0" rIns="0" bIns="0" rtlCol="0" anchor="t">
            <a:spAutoFit/>
          </a:bodyPr>
          <a:lstStyle/>
          <a:p>
            <a:pPr marL="289560" lvl="1" indent="-144780" algn="l">
              <a:lnSpc>
                <a:spcPts val="1600"/>
              </a:lnSpc>
              <a:buFont typeface="Arial"/>
              <a:buChar char="•"/>
            </a:pPr>
            <a:r>
              <a:rPr lang="en-US" sz="1200">
                <a:solidFill>
                  <a:srgbClr val="E2E6E9"/>
                </a:solidFill>
                <a:latin typeface="Merriweather"/>
                <a:ea typeface="Merriweather"/>
                <a:cs typeface="Merriweather"/>
                <a:sym typeface="Merriweather"/>
              </a:rPr>
              <a:t>Room type significantly affects price (entire homes &gt; private rooms &gt; shared rooms)</a:t>
            </a:r>
          </a:p>
          <a:p>
            <a:pPr marL="289560" lvl="1" indent="-144780" algn="l">
              <a:lnSpc>
                <a:spcPts val="1600"/>
              </a:lnSpc>
              <a:buFont typeface="Arial"/>
              <a:buChar char="•"/>
            </a:pPr>
            <a:r>
              <a:rPr lang="en-US" sz="1200">
                <a:solidFill>
                  <a:srgbClr val="E2E6E9"/>
                </a:solidFill>
                <a:latin typeface="Merriweather"/>
                <a:ea typeface="Merriweather"/>
                <a:cs typeface="Merriweather"/>
                <a:sym typeface="Merriweather"/>
              </a:rPr>
              <a:t>Number of bedrooms has positive effect on price</a:t>
            </a:r>
          </a:p>
          <a:p>
            <a:pPr marL="289560" lvl="1" indent="-144780" algn="l">
              <a:lnSpc>
                <a:spcPts val="1600"/>
              </a:lnSpc>
              <a:buFont typeface="Arial"/>
              <a:buChar char="•"/>
            </a:pPr>
            <a:r>
              <a:rPr lang="en-US" sz="1200">
                <a:solidFill>
                  <a:srgbClr val="E2E6E9"/>
                </a:solidFill>
                <a:latin typeface="Merriweather"/>
                <a:ea typeface="Merriweather"/>
                <a:cs typeface="Merriweather"/>
                <a:sym typeface="Merriweather"/>
              </a:rPr>
              <a:t>Cleanliness and guest satisfaction scores positively influence pricing</a:t>
            </a:r>
          </a:p>
          <a:p>
            <a:pPr marL="289560" lvl="1" indent="-144780" algn="l">
              <a:lnSpc>
                <a:spcPts val="1600"/>
              </a:lnSpc>
              <a:buFont typeface="Arial"/>
              <a:buChar char="•"/>
            </a:pPr>
            <a:r>
              <a:rPr lang="en-US" sz="1200">
                <a:solidFill>
                  <a:srgbClr val="E2E6E9"/>
                </a:solidFill>
                <a:latin typeface="Merriweather"/>
                <a:ea typeface="Merriweather"/>
                <a:cs typeface="Merriweather"/>
                <a:sym typeface="Merriweather"/>
              </a:rPr>
              <a:t>Distance from city center negatively affects price</a:t>
            </a:r>
          </a:p>
          <a:p>
            <a:pPr marL="289560" lvl="1" indent="-144780" algn="l">
              <a:lnSpc>
                <a:spcPts val="1600"/>
              </a:lnSpc>
              <a:buFont typeface="Arial"/>
              <a:buChar char="•"/>
            </a:pPr>
            <a:r>
              <a:rPr lang="en-US" sz="1200">
                <a:solidFill>
                  <a:srgbClr val="E2E6E9"/>
                </a:solidFill>
                <a:latin typeface="Merriweather"/>
                <a:ea typeface="Merriweather"/>
                <a:cs typeface="Merriweather"/>
                <a:sym typeface="Merriweather"/>
              </a:rPr>
              <a:t>Economic indicators (rent, income levels) impact listing prices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701562" y="656330"/>
            <a:ext cx="10586437" cy="627544"/>
          </a:xfrm>
          <a:prstGeom prst="rect">
            <a:avLst/>
          </a:prstGeom>
        </p:spPr>
        <p:txBody>
          <a:bodyPr wrap="square" lIns="0" tIns="0" rIns="0" bIns="0" rtlCol="0" anchor="t">
            <a:spAutoFit/>
          </a:bodyPr>
          <a:lstStyle/>
          <a:p>
            <a:pPr algn="l">
              <a:lnSpc>
                <a:spcPts val="5100"/>
              </a:lnSpc>
            </a:pPr>
            <a:r>
              <a:rPr lang="en-US" sz="4100" dirty="0">
                <a:solidFill>
                  <a:srgbClr val="F5F0F0"/>
                </a:solidFill>
                <a:latin typeface="Merriweather"/>
                <a:ea typeface="Merriweather"/>
                <a:cs typeface="Merriweather"/>
                <a:sym typeface="Merriweather"/>
              </a:rPr>
              <a:t>Regularization Techniques Performance</a:t>
            </a:r>
          </a:p>
        </p:txBody>
      </p:sp>
      <p:sp>
        <p:nvSpPr>
          <p:cNvPr id="9" name="TextBox 9"/>
          <p:cNvSpPr txBox="1"/>
          <p:nvPr/>
        </p:nvSpPr>
        <p:spPr>
          <a:xfrm>
            <a:off x="7701563" y="2202361"/>
            <a:ext cx="9742884" cy="939556"/>
          </a:xfrm>
          <a:prstGeom prst="rect">
            <a:avLst/>
          </a:prstGeom>
        </p:spPr>
        <p:txBody>
          <a:bodyPr lIns="0" tIns="0" rIns="0" bIns="0" rtlCol="0" anchor="t">
            <a:spAutoFit/>
          </a:bodyPr>
          <a:lstStyle/>
          <a:p>
            <a:pPr algn="l">
              <a:lnSpc>
                <a:spcPts val="2300"/>
              </a:lnSpc>
            </a:pPr>
            <a:r>
              <a:rPr lang="en-US" sz="1600">
                <a:solidFill>
                  <a:srgbClr val="E2E6E9"/>
                </a:solidFill>
                <a:latin typeface="Merriweather"/>
                <a:ea typeface="Merriweather"/>
                <a:cs typeface="Merriweather"/>
                <a:sym typeface="Merriweather"/>
              </a:rPr>
              <a:t>Regularization methods were applied to improve model performance, reduce overfitting, and handle multicollinearity. These techniques help in selecting important variables while maintaining predictive accuracy.</a:t>
            </a:r>
          </a:p>
        </p:txBody>
      </p:sp>
      <p:grpSp>
        <p:nvGrpSpPr>
          <p:cNvPr id="10" name="Group 10"/>
          <p:cNvGrpSpPr/>
          <p:nvPr/>
        </p:nvGrpSpPr>
        <p:grpSpPr>
          <a:xfrm>
            <a:off x="7696791" y="3322434"/>
            <a:ext cx="4798514" cy="2676230"/>
            <a:chOff x="0" y="0"/>
            <a:chExt cx="6398019" cy="3568306"/>
          </a:xfrm>
        </p:grpSpPr>
        <p:sp>
          <p:nvSpPr>
            <p:cNvPr id="11" name="Freeform 11"/>
            <p:cNvSpPr/>
            <p:nvPr/>
          </p:nvSpPr>
          <p:spPr>
            <a:xfrm>
              <a:off x="0" y="0"/>
              <a:ext cx="6398006" cy="3568192"/>
            </a:xfrm>
            <a:custGeom>
              <a:avLst/>
              <a:gdLst/>
              <a:ahLst/>
              <a:cxnLst/>
              <a:rect l="l" t="t" r="r" b="b"/>
              <a:pathLst>
                <a:path w="6398006" h="3568192">
                  <a:moveTo>
                    <a:pt x="0" y="118491"/>
                  </a:moveTo>
                  <a:cubicBezTo>
                    <a:pt x="0" y="53086"/>
                    <a:pt x="53086" y="0"/>
                    <a:pt x="118491" y="0"/>
                  </a:cubicBezTo>
                  <a:lnTo>
                    <a:pt x="6279515" y="0"/>
                  </a:lnTo>
                  <a:cubicBezTo>
                    <a:pt x="6344920" y="0"/>
                    <a:pt x="6398006" y="53086"/>
                    <a:pt x="6398006" y="118491"/>
                  </a:cubicBezTo>
                  <a:lnTo>
                    <a:pt x="6398006" y="3449701"/>
                  </a:lnTo>
                  <a:cubicBezTo>
                    <a:pt x="6398006" y="3515106"/>
                    <a:pt x="6344920" y="3568192"/>
                    <a:pt x="6279515" y="3568192"/>
                  </a:cubicBezTo>
                  <a:lnTo>
                    <a:pt x="118491" y="3568192"/>
                  </a:lnTo>
                  <a:cubicBezTo>
                    <a:pt x="53086" y="3568192"/>
                    <a:pt x="0" y="3515106"/>
                    <a:pt x="0" y="3449701"/>
                  </a:cubicBezTo>
                  <a:close/>
                </a:path>
              </a:pathLst>
            </a:custGeom>
            <a:solidFill>
              <a:srgbClr val="003180"/>
            </a:solidFill>
            <a:ln w="9526" cap="sq">
              <a:solidFill>
                <a:srgbClr val="194A99"/>
              </a:solidFill>
              <a:prstDash val="solid"/>
              <a:miter/>
            </a:ln>
          </p:spPr>
        </p:sp>
      </p:grpSp>
      <p:grpSp>
        <p:nvGrpSpPr>
          <p:cNvPr id="12" name="Group 12"/>
          <p:cNvGrpSpPr/>
          <p:nvPr/>
        </p:nvGrpSpPr>
        <p:grpSpPr>
          <a:xfrm>
            <a:off x="7921971" y="3547615"/>
            <a:ext cx="632670" cy="632670"/>
            <a:chOff x="0" y="0"/>
            <a:chExt cx="843559" cy="843559"/>
          </a:xfrm>
        </p:grpSpPr>
        <p:sp>
          <p:nvSpPr>
            <p:cNvPr id="13" name="Freeform 13"/>
            <p:cNvSpPr/>
            <p:nvPr/>
          </p:nvSpPr>
          <p:spPr>
            <a:xfrm>
              <a:off x="0" y="0"/>
              <a:ext cx="843534" cy="843534"/>
            </a:xfrm>
            <a:custGeom>
              <a:avLst/>
              <a:gdLst/>
              <a:ahLst/>
              <a:cxnLst/>
              <a:rect l="l" t="t" r="r" b="b"/>
              <a:pathLst>
                <a:path w="843534" h="843534">
                  <a:moveTo>
                    <a:pt x="0" y="421767"/>
                  </a:moveTo>
                  <a:cubicBezTo>
                    <a:pt x="0" y="188849"/>
                    <a:pt x="188849" y="0"/>
                    <a:pt x="421767" y="0"/>
                  </a:cubicBezTo>
                  <a:cubicBezTo>
                    <a:pt x="654685" y="0"/>
                    <a:pt x="843534" y="188849"/>
                    <a:pt x="843534" y="421767"/>
                  </a:cubicBezTo>
                  <a:cubicBezTo>
                    <a:pt x="843534" y="654685"/>
                    <a:pt x="654685" y="843534"/>
                    <a:pt x="421767" y="843534"/>
                  </a:cubicBezTo>
                  <a:cubicBezTo>
                    <a:pt x="188849" y="843534"/>
                    <a:pt x="0" y="654685"/>
                    <a:pt x="0" y="421767"/>
                  </a:cubicBezTo>
                  <a:close/>
                </a:path>
              </a:pathLst>
            </a:custGeom>
            <a:solidFill>
              <a:srgbClr val="609DFF"/>
            </a:solidFill>
          </p:spPr>
        </p:sp>
      </p:grpSp>
      <p:sp>
        <p:nvSpPr>
          <p:cNvPr id="14" name="Freeform 14" descr="preencoded.png"/>
          <p:cNvSpPr/>
          <p:nvPr/>
        </p:nvSpPr>
        <p:spPr>
          <a:xfrm>
            <a:off x="8095955" y="3721598"/>
            <a:ext cx="284712" cy="284712"/>
          </a:xfrm>
          <a:custGeom>
            <a:avLst/>
            <a:gdLst/>
            <a:ahLst/>
            <a:cxnLst/>
            <a:rect l="l" t="t" r="r" b="b"/>
            <a:pathLst>
              <a:path w="284712" h="284712">
                <a:moveTo>
                  <a:pt x="0" y="0"/>
                </a:moveTo>
                <a:lnTo>
                  <a:pt x="284711" y="0"/>
                </a:lnTo>
                <a:lnTo>
                  <a:pt x="284711" y="284712"/>
                </a:lnTo>
                <a:lnTo>
                  <a:pt x="0" y="284712"/>
                </a:lnTo>
                <a:lnTo>
                  <a:pt x="0" y="0"/>
                </a:lnTo>
                <a:close/>
              </a:path>
            </a:pathLst>
          </a:custGeom>
          <a:blipFill>
            <a:blip>
              <a:extLst>
                <a:ext uri="{96DAC541-7B7A-43D3-8B79-37D633B846F1}">
                  <asvg:svgBlip xmlns:asvg="http://schemas.microsoft.com/office/drawing/2016/SVG/main" r:embed="rId5"/>
                </a:ext>
              </a:extLst>
            </a:blip>
            <a:stretch>
              <a:fillRect l="-41664" r="-41664"/>
            </a:stretch>
          </a:blipFill>
        </p:spPr>
      </p:sp>
      <p:sp>
        <p:nvSpPr>
          <p:cNvPr id="15" name="TextBox 15"/>
          <p:cNvSpPr txBox="1"/>
          <p:nvPr/>
        </p:nvSpPr>
        <p:spPr>
          <a:xfrm>
            <a:off x="7921971" y="4325988"/>
            <a:ext cx="2636339" cy="348405"/>
          </a:xfrm>
          <a:prstGeom prst="rect">
            <a:avLst/>
          </a:prstGeom>
        </p:spPr>
        <p:txBody>
          <a:bodyPr lIns="0" tIns="0" rIns="0" bIns="0" rtlCol="0" anchor="t">
            <a:spAutoFit/>
          </a:bodyPr>
          <a:lstStyle/>
          <a:p>
            <a:pPr algn="l">
              <a:lnSpc>
                <a:spcPts val="2500"/>
              </a:lnSpc>
            </a:pPr>
            <a:r>
              <a:rPr lang="en-US" sz="2000">
                <a:solidFill>
                  <a:srgbClr val="E2E6E9"/>
                </a:solidFill>
                <a:latin typeface="Merriweather"/>
                <a:ea typeface="Merriweather"/>
                <a:cs typeface="Merriweather"/>
                <a:sym typeface="Merriweather"/>
              </a:rPr>
              <a:t>Ridge Regression</a:t>
            </a:r>
          </a:p>
        </p:txBody>
      </p:sp>
      <p:sp>
        <p:nvSpPr>
          <p:cNvPr id="16" name="TextBox 16"/>
          <p:cNvSpPr txBox="1"/>
          <p:nvPr/>
        </p:nvSpPr>
        <p:spPr>
          <a:xfrm>
            <a:off x="7921971" y="4735116"/>
            <a:ext cx="4348162" cy="338585"/>
          </a:xfrm>
          <a:prstGeom prst="rect">
            <a:avLst/>
          </a:prstGeom>
        </p:spPr>
        <p:txBody>
          <a:bodyPr lIns="0" tIns="0" rIns="0" bIns="0" rtlCol="0" anchor="t">
            <a:spAutoFit/>
          </a:bodyPr>
          <a:lstStyle/>
          <a:p>
            <a:pPr algn="l">
              <a:lnSpc>
                <a:spcPts val="2300"/>
              </a:lnSpc>
            </a:pPr>
            <a:r>
              <a:rPr lang="en-US" sz="1600">
                <a:solidFill>
                  <a:srgbClr val="E2E6E9"/>
                </a:solidFill>
                <a:latin typeface="Merriweather"/>
                <a:ea typeface="Merriweather"/>
                <a:cs typeface="Merriweather"/>
                <a:sym typeface="Merriweather"/>
              </a:rPr>
              <a:t>RMSE: 0.356</a:t>
            </a:r>
          </a:p>
        </p:txBody>
      </p:sp>
      <p:sp>
        <p:nvSpPr>
          <p:cNvPr id="17" name="TextBox 17"/>
          <p:cNvSpPr txBox="1"/>
          <p:nvPr/>
        </p:nvSpPr>
        <p:spPr>
          <a:xfrm>
            <a:off x="7921971" y="5134423"/>
            <a:ext cx="4348162" cy="639070"/>
          </a:xfrm>
          <a:prstGeom prst="rect">
            <a:avLst/>
          </a:prstGeom>
        </p:spPr>
        <p:txBody>
          <a:bodyPr lIns="0" tIns="0" rIns="0" bIns="0" rtlCol="0" anchor="t">
            <a:spAutoFit/>
          </a:bodyPr>
          <a:lstStyle/>
          <a:p>
            <a:pPr algn="l">
              <a:lnSpc>
                <a:spcPts val="2300"/>
              </a:lnSpc>
            </a:pPr>
            <a:r>
              <a:rPr lang="en-US" sz="1600">
                <a:solidFill>
                  <a:srgbClr val="E2E6E9"/>
                </a:solidFill>
                <a:latin typeface="Merriweather"/>
                <a:ea typeface="Merriweather"/>
                <a:cs typeface="Merriweather"/>
                <a:sym typeface="Merriweather"/>
              </a:rPr>
              <a:t>Uses L2 regularization to shrink coefficients without eliminating variables</a:t>
            </a:r>
          </a:p>
        </p:txBody>
      </p:sp>
      <p:grpSp>
        <p:nvGrpSpPr>
          <p:cNvPr id="18" name="Group 18"/>
          <p:cNvGrpSpPr/>
          <p:nvPr/>
        </p:nvGrpSpPr>
        <p:grpSpPr>
          <a:xfrm>
            <a:off x="12650543" y="3322434"/>
            <a:ext cx="4798666" cy="2676230"/>
            <a:chOff x="0" y="0"/>
            <a:chExt cx="6398222" cy="3568306"/>
          </a:xfrm>
        </p:grpSpPr>
        <p:sp>
          <p:nvSpPr>
            <p:cNvPr id="19" name="Freeform 19"/>
            <p:cNvSpPr/>
            <p:nvPr/>
          </p:nvSpPr>
          <p:spPr>
            <a:xfrm>
              <a:off x="0" y="0"/>
              <a:ext cx="6398133" cy="3568192"/>
            </a:xfrm>
            <a:custGeom>
              <a:avLst/>
              <a:gdLst/>
              <a:ahLst/>
              <a:cxnLst/>
              <a:rect l="l" t="t" r="r" b="b"/>
              <a:pathLst>
                <a:path w="6398133" h="3568192">
                  <a:moveTo>
                    <a:pt x="0" y="118491"/>
                  </a:moveTo>
                  <a:cubicBezTo>
                    <a:pt x="0" y="53086"/>
                    <a:pt x="53086" y="0"/>
                    <a:pt x="118491" y="0"/>
                  </a:cubicBezTo>
                  <a:lnTo>
                    <a:pt x="6279642" y="0"/>
                  </a:lnTo>
                  <a:cubicBezTo>
                    <a:pt x="6345047" y="0"/>
                    <a:pt x="6398133" y="53086"/>
                    <a:pt x="6398133" y="118491"/>
                  </a:cubicBezTo>
                  <a:lnTo>
                    <a:pt x="6398133" y="3449701"/>
                  </a:lnTo>
                  <a:cubicBezTo>
                    <a:pt x="6398133" y="3515106"/>
                    <a:pt x="6345047" y="3568192"/>
                    <a:pt x="6279642" y="3568192"/>
                  </a:cubicBezTo>
                  <a:lnTo>
                    <a:pt x="118491" y="3568192"/>
                  </a:lnTo>
                  <a:cubicBezTo>
                    <a:pt x="53086" y="3568192"/>
                    <a:pt x="0" y="3515106"/>
                    <a:pt x="0" y="3449701"/>
                  </a:cubicBezTo>
                  <a:close/>
                </a:path>
              </a:pathLst>
            </a:custGeom>
            <a:solidFill>
              <a:srgbClr val="003180"/>
            </a:solidFill>
            <a:ln w="9526" cap="sq">
              <a:solidFill>
                <a:srgbClr val="194A99"/>
              </a:solidFill>
              <a:prstDash val="solid"/>
              <a:miter/>
            </a:ln>
          </p:spPr>
        </p:sp>
      </p:grpSp>
      <p:grpSp>
        <p:nvGrpSpPr>
          <p:cNvPr id="20" name="Group 20"/>
          <p:cNvGrpSpPr/>
          <p:nvPr/>
        </p:nvGrpSpPr>
        <p:grpSpPr>
          <a:xfrm>
            <a:off x="12875714" y="3547615"/>
            <a:ext cx="632670" cy="632670"/>
            <a:chOff x="0" y="0"/>
            <a:chExt cx="843559" cy="843559"/>
          </a:xfrm>
        </p:grpSpPr>
        <p:sp>
          <p:nvSpPr>
            <p:cNvPr id="21" name="Freeform 21"/>
            <p:cNvSpPr/>
            <p:nvPr/>
          </p:nvSpPr>
          <p:spPr>
            <a:xfrm>
              <a:off x="0" y="0"/>
              <a:ext cx="843534" cy="843534"/>
            </a:xfrm>
            <a:custGeom>
              <a:avLst/>
              <a:gdLst/>
              <a:ahLst/>
              <a:cxnLst/>
              <a:rect l="l" t="t" r="r" b="b"/>
              <a:pathLst>
                <a:path w="843534" h="843534">
                  <a:moveTo>
                    <a:pt x="0" y="421767"/>
                  </a:moveTo>
                  <a:cubicBezTo>
                    <a:pt x="0" y="188849"/>
                    <a:pt x="188849" y="0"/>
                    <a:pt x="421767" y="0"/>
                  </a:cubicBezTo>
                  <a:cubicBezTo>
                    <a:pt x="654685" y="0"/>
                    <a:pt x="843534" y="188849"/>
                    <a:pt x="843534" y="421767"/>
                  </a:cubicBezTo>
                  <a:cubicBezTo>
                    <a:pt x="843534" y="654685"/>
                    <a:pt x="654685" y="843534"/>
                    <a:pt x="421767" y="843534"/>
                  </a:cubicBezTo>
                  <a:cubicBezTo>
                    <a:pt x="188849" y="843534"/>
                    <a:pt x="0" y="654685"/>
                    <a:pt x="0" y="421767"/>
                  </a:cubicBezTo>
                  <a:close/>
                </a:path>
              </a:pathLst>
            </a:custGeom>
            <a:solidFill>
              <a:srgbClr val="609DFF"/>
            </a:solidFill>
          </p:spPr>
        </p:sp>
      </p:grpSp>
      <p:sp>
        <p:nvSpPr>
          <p:cNvPr id="22" name="Freeform 22" descr="preencoded.png"/>
          <p:cNvSpPr/>
          <p:nvPr/>
        </p:nvSpPr>
        <p:spPr>
          <a:xfrm>
            <a:off x="13049698" y="3721598"/>
            <a:ext cx="284712" cy="284712"/>
          </a:xfrm>
          <a:custGeom>
            <a:avLst/>
            <a:gdLst/>
            <a:ahLst/>
            <a:cxnLst/>
            <a:rect l="l" t="t" r="r" b="b"/>
            <a:pathLst>
              <a:path w="284712" h="284712">
                <a:moveTo>
                  <a:pt x="0" y="0"/>
                </a:moveTo>
                <a:lnTo>
                  <a:pt x="284711" y="0"/>
                </a:lnTo>
                <a:lnTo>
                  <a:pt x="284711" y="284712"/>
                </a:lnTo>
                <a:lnTo>
                  <a:pt x="0" y="284712"/>
                </a:lnTo>
                <a:lnTo>
                  <a:pt x="0" y="0"/>
                </a:lnTo>
                <a:close/>
              </a:path>
            </a:pathLst>
          </a:custGeom>
          <a:blipFill>
            <a:blip>
              <a:extLst>
                <a:ext uri="{96DAC541-7B7A-43D3-8B79-37D633B846F1}">
                  <asvg:svgBlip xmlns:asvg="http://schemas.microsoft.com/office/drawing/2016/SVG/main" r:embed="rId6"/>
                </a:ext>
              </a:extLst>
            </a:blip>
            <a:stretch>
              <a:fillRect t="-8333" b="-8330"/>
            </a:stretch>
          </a:blipFill>
        </p:spPr>
      </p:sp>
      <p:sp>
        <p:nvSpPr>
          <p:cNvPr id="23" name="TextBox 23"/>
          <p:cNvSpPr txBox="1"/>
          <p:nvPr/>
        </p:nvSpPr>
        <p:spPr>
          <a:xfrm>
            <a:off x="12875714" y="4325988"/>
            <a:ext cx="2636339" cy="348405"/>
          </a:xfrm>
          <a:prstGeom prst="rect">
            <a:avLst/>
          </a:prstGeom>
        </p:spPr>
        <p:txBody>
          <a:bodyPr lIns="0" tIns="0" rIns="0" bIns="0" rtlCol="0" anchor="t">
            <a:spAutoFit/>
          </a:bodyPr>
          <a:lstStyle/>
          <a:p>
            <a:pPr algn="l">
              <a:lnSpc>
                <a:spcPts val="2500"/>
              </a:lnSpc>
            </a:pPr>
            <a:r>
              <a:rPr lang="en-US" sz="2000">
                <a:solidFill>
                  <a:srgbClr val="E2E6E9"/>
                </a:solidFill>
                <a:latin typeface="Merriweather"/>
                <a:ea typeface="Merriweather"/>
                <a:cs typeface="Merriweather"/>
                <a:sym typeface="Merriweather"/>
              </a:rPr>
              <a:t>LASSO</a:t>
            </a:r>
          </a:p>
        </p:txBody>
      </p:sp>
      <p:sp>
        <p:nvSpPr>
          <p:cNvPr id="24" name="TextBox 24"/>
          <p:cNvSpPr txBox="1"/>
          <p:nvPr/>
        </p:nvSpPr>
        <p:spPr>
          <a:xfrm>
            <a:off x="12875714" y="4735116"/>
            <a:ext cx="4348315" cy="338585"/>
          </a:xfrm>
          <a:prstGeom prst="rect">
            <a:avLst/>
          </a:prstGeom>
        </p:spPr>
        <p:txBody>
          <a:bodyPr lIns="0" tIns="0" rIns="0" bIns="0" rtlCol="0" anchor="t">
            <a:spAutoFit/>
          </a:bodyPr>
          <a:lstStyle/>
          <a:p>
            <a:pPr algn="l">
              <a:lnSpc>
                <a:spcPts val="2300"/>
              </a:lnSpc>
            </a:pPr>
            <a:r>
              <a:rPr lang="en-US" sz="1600">
                <a:solidFill>
                  <a:srgbClr val="E2E6E9"/>
                </a:solidFill>
                <a:latin typeface="Merriweather"/>
                <a:ea typeface="Merriweather"/>
                <a:cs typeface="Merriweather"/>
                <a:sym typeface="Merriweather"/>
              </a:rPr>
              <a:t>RMSE: 0.355</a:t>
            </a:r>
          </a:p>
        </p:txBody>
      </p:sp>
      <p:sp>
        <p:nvSpPr>
          <p:cNvPr id="25" name="TextBox 25"/>
          <p:cNvSpPr txBox="1"/>
          <p:nvPr/>
        </p:nvSpPr>
        <p:spPr>
          <a:xfrm>
            <a:off x="12875714" y="5134423"/>
            <a:ext cx="4348315" cy="639070"/>
          </a:xfrm>
          <a:prstGeom prst="rect">
            <a:avLst/>
          </a:prstGeom>
        </p:spPr>
        <p:txBody>
          <a:bodyPr lIns="0" tIns="0" rIns="0" bIns="0" rtlCol="0" anchor="t">
            <a:spAutoFit/>
          </a:bodyPr>
          <a:lstStyle/>
          <a:p>
            <a:pPr algn="l">
              <a:lnSpc>
                <a:spcPts val="2300"/>
              </a:lnSpc>
            </a:pPr>
            <a:r>
              <a:rPr lang="en-US" sz="1600">
                <a:solidFill>
                  <a:srgbClr val="E2E6E9"/>
                </a:solidFill>
                <a:latin typeface="Merriweather"/>
                <a:ea typeface="Merriweather"/>
                <a:cs typeface="Merriweather"/>
                <a:sym typeface="Merriweather"/>
              </a:rPr>
              <a:t>Uses L1 regularization to shrink coefficients and perform variable selection</a:t>
            </a:r>
          </a:p>
        </p:txBody>
      </p:sp>
      <p:grpSp>
        <p:nvGrpSpPr>
          <p:cNvPr id="26" name="Group 26"/>
          <p:cNvGrpSpPr/>
          <p:nvPr/>
        </p:nvGrpSpPr>
        <p:grpSpPr>
          <a:xfrm>
            <a:off x="7696791" y="6153893"/>
            <a:ext cx="9752409" cy="2375745"/>
            <a:chOff x="0" y="0"/>
            <a:chExt cx="13003212" cy="3167659"/>
          </a:xfrm>
        </p:grpSpPr>
        <p:sp>
          <p:nvSpPr>
            <p:cNvPr id="27" name="Freeform 27"/>
            <p:cNvSpPr/>
            <p:nvPr/>
          </p:nvSpPr>
          <p:spPr>
            <a:xfrm>
              <a:off x="0" y="0"/>
              <a:ext cx="13003276" cy="3167634"/>
            </a:xfrm>
            <a:custGeom>
              <a:avLst/>
              <a:gdLst/>
              <a:ahLst/>
              <a:cxnLst/>
              <a:rect l="l" t="t" r="r" b="b"/>
              <a:pathLst>
                <a:path w="13003276" h="3167634">
                  <a:moveTo>
                    <a:pt x="0" y="118618"/>
                  </a:moveTo>
                  <a:cubicBezTo>
                    <a:pt x="0" y="53086"/>
                    <a:pt x="53086" y="0"/>
                    <a:pt x="118618" y="0"/>
                  </a:cubicBezTo>
                  <a:lnTo>
                    <a:pt x="12884658" y="0"/>
                  </a:lnTo>
                  <a:cubicBezTo>
                    <a:pt x="12950190" y="0"/>
                    <a:pt x="13003276" y="53086"/>
                    <a:pt x="13003276" y="118618"/>
                  </a:cubicBezTo>
                  <a:lnTo>
                    <a:pt x="13003276" y="3049016"/>
                  </a:lnTo>
                  <a:cubicBezTo>
                    <a:pt x="13003276" y="3114548"/>
                    <a:pt x="12950190" y="3167634"/>
                    <a:pt x="12884658" y="3167634"/>
                  </a:cubicBezTo>
                  <a:lnTo>
                    <a:pt x="118618" y="3167634"/>
                  </a:lnTo>
                  <a:cubicBezTo>
                    <a:pt x="53086" y="3167634"/>
                    <a:pt x="0" y="3114548"/>
                    <a:pt x="0" y="3049016"/>
                  </a:cubicBezTo>
                  <a:close/>
                </a:path>
              </a:pathLst>
            </a:custGeom>
            <a:solidFill>
              <a:srgbClr val="003180"/>
            </a:solidFill>
            <a:ln w="9526" cap="sq">
              <a:solidFill>
                <a:srgbClr val="194A99"/>
              </a:solidFill>
              <a:prstDash val="solid"/>
              <a:miter/>
            </a:ln>
          </p:spPr>
        </p:sp>
      </p:grpSp>
      <p:grpSp>
        <p:nvGrpSpPr>
          <p:cNvPr id="28" name="Group 28"/>
          <p:cNvGrpSpPr/>
          <p:nvPr/>
        </p:nvGrpSpPr>
        <p:grpSpPr>
          <a:xfrm>
            <a:off x="7921971" y="6379073"/>
            <a:ext cx="632670" cy="632670"/>
            <a:chOff x="0" y="0"/>
            <a:chExt cx="843559" cy="843559"/>
          </a:xfrm>
        </p:grpSpPr>
        <p:sp>
          <p:nvSpPr>
            <p:cNvPr id="29" name="Freeform 29"/>
            <p:cNvSpPr/>
            <p:nvPr/>
          </p:nvSpPr>
          <p:spPr>
            <a:xfrm>
              <a:off x="0" y="0"/>
              <a:ext cx="843534" cy="843534"/>
            </a:xfrm>
            <a:custGeom>
              <a:avLst/>
              <a:gdLst/>
              <a:ahLst/>
              <a:cxnLst/>
              <a:rect l="l" t="t" r="r" b="b"/>
              <a:pathLst>
                <a:path w="843534" h="843534">
                  <a:moveTo>
                    <a:pt x="0" y="421767"/>
                  </a:moveTo>
                  <a:cubicBezTo>
                    <a:pt x="0" y="188849"/>
                    <a:pt x="188849" y="0"/>
                    <a:pt x="421767" y="0"/>
                  </a:cubicBezTo>
                  <a:cubicBezTo>
                    <a:pt x="654685" y="0"/>
                    <a:pt x="843534" y="188849"/>
                    <a:pt x="843534" y="421767"/>
                  </a:cubicBezTo>
                  <a:cubicBezTo>
                    <a:pt x="843534" y="654685"/>
                    <a:pt x="654685" y="843534"/>
                    <a:pt x="421767" y="843534"/>
                  </a:cubicBezTo>
                  <a:cubicBezTo>
                    <a:pt x="188849" y="843534"/>
                    <a:pt x="0" y="654685"/>
                    <a:pt x="0" y="421767"/>
                  </a:cubicBezTo>
                  <a:close/>
                </a:path>
              </a:pathLst>
            </a:custGeom>
            <a:solidFill>
              <a:srgbClr val="609DFF"/>
            </a:solidFill>
          </p:spPr>
        </p:sp>
      </p:grpSp>
      <p:sp>
        <p:nvSpPr>
          <p:cNvPr id="30" name="Freeform 30" descr="preencoded.png"/>
          <p:cNvSpPr/>
          <p:nvPr/>
        </p:nvSpPr>
        <p:spPr>
          <a:xfrm>
            <a:off x="8095955" y="6553048"/>
            <a:ext cx="284712" cy="284712"/>
          </a:xfrm>
          <a:custGeom>
            <a:avLst/>
            <a:gdLst/>
            <a:ahLst/>
            <a:cxnLst/>
            <a:rect l="l" t="t" r="r" b="b"/>
            <a:pathLst>
              <a:path w="284712" h="284712">
                <a:moveTo>
                  <a:pt x="0" y="0"/>
                </a:moveTo>
                <a:lnTo>
                  <a:pt x="284711" y="0"/>
                </a:lnTo>
                <a:lnTo>
                  <a:pt x="284711" y="284711"/>
                </a:lnTo>
                <a:lnTo>
                  <a:pt x="0" y="284711"/>
                </a:lnTo>
                <a:lnTo>
                  <a:pt x="0" y="0"/>
                </a:lnTo>
                <a:close/>
              </a:path>
            </a:pathLst>
          </a:custGeom>
          <a:blipFill>
            <a:blip>
              <a:extLst>
                <a:ext uri="{96DAC541-7B7A-43D3-8B79-37D633B846F1}">
                  <asvg:svgBlip xmlns:asvg="http://schemas.microsoft.com/office/drawing/2016/SVG/main" r:embed="rId7"/>
                </a:ext>
              </a:extLst>
            </a:blip>
            <a:stretch>
              <a:fillRect l="-13331" r="-13331"/>
            </a:stretch>
          </a:blipFill>
        </p:spPr>
      </p:sp>
      <p:sp>
        <p:nvSpPr>
          <p:cNvPr id="31" name="TextBox 31"/>
          <p:cNvSpPr txBox="1"/>
          <p:nvPr/>
        </p:nvSpPr>
        <p:spPr>
          <a:xfrm>
            <a:off x="7921971" y="7157437"/>
            <a:ext cx="2636339" cy="348405"/>
          </a:xfrm>
          <a:prstGeom prst="rect">
            <a:avLst/>
          </a:prstGeom>
        </p:spPr>
        <p:txBody>
          <a:bodyPr lIns="0" tIns="0" rIns="0" bIns="0" rtlCol="0" anchor="t">
            <a:spAutoFit/>
          </a:bodyPr>
          <a:lstStyle/>
          <a:p>
            <a:pPr algn="l">
              <a:lnSpc>
                <a:spcPts val="2500"/>
              </a:lnSpc>
            </a:pPr>
            <a:r>
              <a:rPr lang="en-US" sz="2000">
                <a:solidFill>
                  <a:srgbClr val="E2E6E9"/>
                </a:solidFill>
                <a:latin typeface="Merriweather"/>
                <a:ea typeface="Merriweather"/>
                <a:cs typeface="Merriweather"/>
                <a:sym typeface="Merriweather"/>
              </a:rPr>
              <a:t>Elastic Net</a:t>
            </a:r>
          </a:p>
        </p:txBody>
      </p:sp>
      <p:sp>
        <p:nvSpPr>
          <p:cNvPr id="32" name="TextBox 32"/>
          <p:cNvSpPr txBox="1"/>
          <p:nvPr/>
        </p:nvSpPr>
        <p:spPr>
          <a:xfrm>
            <a:off x="7921971" y="7566574"/>
            <a:ext cx="9302058" cy="338585"/>
          </a:xfrm>
          <a:prstGeom prst="rect">
            <a:avLst/>
          </a:prstGeom>
        </p:spPr>
        <p:txBody>
          <a:bodyPr lIns="0" tIns="0" rIns="0" bIns="0" rtlCol="0" anchor="t">
            <a:spAutoFit/>
          </a:bodyPr>
          <a:lstStyle/>
          <a:p>
            <a:pPr algn="l">
              <a:lnSpc>
                <a:spcPts val="2300"/>
              </a:lnSpc>
            </a:pPr>
            <a:r>
              <a:rPr lang="en-US" sz="1600">
                <a:solidFill>
                  <a:srgbClr val="E2E6E9"/>
                </a:solidFill>
                <a:latin typeface="Merriweather"/>
                <a:ea typeface="Merriweather"/>
                <a:cs typeface="Merriweather"/>
                <a:sym typeface="Merriweather"/>
              </a:rPr>
              <a:t>RMSE: 0.355</a:t>
            </a:r>
          </a:p>
        </p:txBody>
      </p:sp>
      <p:sp>
        <p:nvSpPr>
          <p:cNvPr id="33" name="TextBox 33"/>
          <p:cNvSpPr txBox="1"/>
          <p:nvPr/>
        </p:nvSpPr>
        <p:spPr>
          <a:xfrm>
            <a:off x="7921971" y="7965872"/>
            <a:ext cx="9302058" cy="338585"/>
          </a:xfrm>
          <a:prstGeom prst="rect">
            <a:avLst/>
          </a:prstGeom>
        </p:spPr>
        <p:txBody>
          <a:bodyPr lIns="0" tIns="0" rIns="0" bIns="0" rtlCol="0" anchor="t">
            <a:spAutoFit/>
          </a:bodyPr>
          <a:lstStyle/>
          <a:p>
            <a:pPr algn="l">
              <a:lnSpc>
                <a:spcPts val="2300"/>
              </a:lnSpc>
            </a:pPr>
            <a:r>
              <a:rPr lang="en-US" sz="1600">
                <a:solidFill>
                  <a:srgbClr val="E2E6E9"/>
                </a:solidFill>
                <a:latin typeface="Merriweather"/>
                <a:ea typeface="Merriweather"/>
                <a:cs typeface="Merriweather"/>
                <a:sym typeface="Merriweather"/>
              </a:rPr>
              <a:t>Combines L1 and L2 penalties for balanced variable selection and coefficient shrinkage</a:t>
            </a:r>
          </a:p>
        </p:txBody>
      </p:sp>
      <p:sp>
        <p:nvSpPr>
          <p:cNvPr id="34" name="TextBox 34"/>
          <p:cNvSpPr txBox="1"/>
          <p:nvPr/>
        </p:nvSpPr>
        <p:spPr>
          <a:xfrm>
            <a:off x="7701563" y="8672065"/>
            <a:ext cx="9742884" cy="939556"/>
          </a:xfrm>
          <a:prstGeom prst="rect">
            <a:avLst/>
          </a:prstGeom>
        </p:spPr>
        <p:txBody>
          <a:bodyPr lIns="0" tIns="0" rIns="0" bIns="0" rtlCol="0" anchor="t">
            <a:spAutoFit/>
          </a:bodyPr>
          <a:lstStyle/>
          <a:p>
            <a:pPr algn="l">
              <a:lnSpc>
                <a:spcPts val="2300"/>
              </a:lnSpc>
            </a:pPr>
            <a:r>
              <a:rPr lang="en-US" sz="1600">
                <a:solidFill>
                  <a:srgbClr val="E2E6E9"/>
                </a:solidFill>
                <a:latin typeface="Merriweather"/>
                <a:ea typeface="Merriweather"/>
                <a:cs typeface="Merriweather"/>
                <a:sym typeface="Merriweather"/>
              </a:rPr>
              <a:t>All three regularization methods performed similarly, with LASSO and Elastic Net achieving slightly better RMSE than Ridge regression. These techniques successfully reduced overfitting and handled multicollinearity in the dataset.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4"/>
              <a:stretch>
                <a:fillRect/>
              </a:stretch>
            </a:blipFill>
          </p:spPr>
        </p:sp>
      </p:grpSp>
      <p:sp>
        <p:nvSpPr>
          <p:cNvPr id="8" name="TextBox 8"/>
          <p:cNvSpPr txBox="1"/>
          <p:nvPr/>
        </p:nvSpPr>
        <p:spPr>
          <a:xfrm>
            <a:off x="7667776" y="581920"/>
            <a:ext cx="8334223" cy="601640"/>
          </a:xfrm>
          <a:prstGeom prst="rect">
            <a:avLst/>
          </a:prstGeom>
        </p:spPr>
        <p:txBody>
          <a:bodyPr wrap="square" lIns="0" tIns="0" rIns="0" bIns="0" rtlCol="0" anchor="t">
            <a:spAutoFit/>
          </a:bodyPr>
          <a:lstStyle/>
          <a:p>
            <a:pPr algn="l">
              <a:lnSpc>
                <a:spcPts val="4900"/>
              </a:lnSpc>
            </a:pPr>
            <a:r>
              <a:rPr lang="en-US" sz="3900" dirty="0">
                <a:solidFill>
                  <a:srgbClr val="F5F0F0"/>
                </a:solidFill>
                <a:latin typeface="Merriweather"/>
                <a:ea typeface="Merriweather"/>
                <a:cs typeface="Merriweather"/>
                <a:sym typeface="Merriweather"/>
              </a:rPr>
              <a:t>Model Comparison Results</a:t>
            </a:r>
          </a:p>
        </p:txBody>
      </p:sp>
      <p:sp>
        <p:nvSpPr>
          <p:cNvPr id="9" name="TextBox 9"/>
          <p:cNvSpPr txBox="1"/>
          <p:nvPr/>
        </p:nvSpPr>
        <p:spPr>
          <a:xfrm>
            <a:off x="7667777" y="1432770"/>
            <a:ext cx="9810455" cy="604838"/>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Different models were compared based on RMSE performance metrics. Lower RMSE values indicate better predictive accuracy.</a:t>
            </a:r>
          </a:p>
        </p:txBody>
      </p:sp>
      <p:grpSp>
        <p:nvGrpSpPr>
          <p:cNvPr id="10" name="Group 10"/>
          <p:cNvGrpSpPr/>
          <p:nvPr/>
        </p:nvGrpSpPr>
        <p:grpSpPr>
          <a:xfrm>
            <a:off x="7667777" y="2208314"/>
            <a:ext cx="1012327" cy="1470127"/>
            <a:chOff x="0" y="0"/>
            <a:chExt cx="1349769" cy="1960169"/>
          </a:xfrm>
        </p:grpSpPr>
        <p:sp>
          <p:nvSpPr>
            <p:cNvPr id="11" name="Freeform 11" descr="preencoded.png"/>
            <p:cNvSpPr/>
            <p:nvPr/>
          </p:nvSpPr>
          <p:spPr>
            <a:xfrm>
              <a:off x="0" y="0"/>
              <a:ext cx="1349756" cy="1960118"/>
            </a:xfrm>
            <a:custGeom>
              <a:avLst/>
              <a:gdLst/>
              <a:ahLst/>
              <a:cxnLst/>
              <a:rect l="l" t="t" r="r" b="b"/>
              <a:pathLst>
                <a:path w="1349756" h="1960118">
                  <a:moveTo>
                    <a:pt x="0" y="0"/>
                  </a:moveTo>
                  <a:lnTo>
                    <a:pt x="1349756" y="0"/>
                  </a:lnTo>
                  <a:lnTo>
                    <a:pt x="1349756" y="1960118"/>
                  </a:lnTo>
                  <a:lnTo>
                    <a:pt x="0" y="1960118"/>
                  </a:lnTo>
                  <a:lnTo>
                    <a:pt x="0" y="0"/>
                  </a:lnTo>
                  <a:close/>
                </a:path>
              </a:pathLst>
            </a:custGeom>
            <a:blipFill>
              <a:blip r:embed="rId5"/>
              <a:stretch>
                <a:fillRect t="-20" b="-23"/>
              </a:stretch>
            </a:blipFill>
          </p:spPr>
        </p:sp>
      </p:grpSp>
      <p:sp>
        <p:nvSpPr>
          <p:cNvPr id="12" name="TextBox 12"/>
          <p:cNvSpPr txBox="1"/>
          <p:nvPr/>
        </p:nvSpPr>
        <p:spPr>
          <a:xfrm>
            <a:off x="8831904" y="2391670"/>
            <a:ext cx="2530973" cy="335461"/>
          </a:xfrm>
          <a:prstGeom prst="rect">
            <a:avLst/>
          </a:prstGeom>
        </p:spPr>
        <p:txBody>
          <a:bodyPr lIns="0" tIns="0" rIns="0" bIns="0" rtlCol="0" anchor="t">
            <a:spAutoFit/>
          </a:bodyPr>
          <a:lstStyle/>
          <a:p>
            <a:pPr algn="l">
              <a:lnSpc>
                <a:spcPts val="2400"/>
              </a:lnSpc>
            </a:pPr>
            <a:r>
              <a:rPr lang="en-US" sz="1900">
                <a:solidFill>
                  <a:srgbClr val="E2E6E9"/>
                </a:solidFill>
                <a:latin typeface="Merriweather"/>
                <a:ea typeface="Merriweather"/>
                <a:cs typeface="Merriweather"/>
                <a:sym typeface="Merriweather"/>
              </a:rPr>
              <a:t>Linear Regression</a:t>
            </a:r>
          </a:p>
        </p:txBody>
      </p:sp>
      <p:sp>
        <p:nvSpPr>
          <p:cNvPr id="13" name="TextBox 13"/>
          <p:cNvSpPr txBox="1"/>
          <p:nvPr/>
        </p:nvSpPr>
        <p:spPr>
          <a:xfrm>
            <a:off x="8831904" y="2780109"/>
            <a:ext cx="8646319"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RMSE: 0.298</a:t>
            </a:r>
          </a:p>
        </p:txBody>
      </p:sp>
      <p:sp>
        <p:nvSpPr>
          <p:cNvPr id="14" name="TextBox 14"/>
          <p:cNvSpPr txBox="1"/>
          <p:nvPr/>
        </p:nvSpPr>
        <p:spPr>
          <a:xfrm>
            <a:off x="8831904" y="3154556"/>
            <a:ext cx="8646319"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Best performing model</a:t>
            </a:r>
          </a:p>
        </p:txBody>
      </p:sp>
      <p:grpSp>
        <p:nvGrpSpPr>
          <p:cNvPr id="15" name="Group 15"/>
          <p:cNvGrpSpPr/>
          <p:nvPr/>
        </p:nvGrpSpPr>
        <p:grpSpPr>
          <a:xfrm>
            <a:off x="7667777" y="3678441"/>
            <a:ext cx="1012327" cy="1470127"/>
            <a:chOff x="0" y="0"/>
            <a:chExt cx="1349769" cy="1960169"/>
          </a:xfrm>
        </p:grpSpPr>
        <p:sp>
          <p:nvSpPr>
            <p:cNvPr id="16" name="Freeform 16" descr="preencoded.png"/>
            <p:cNvSpPr/>
            <p:nvPr/>
          </p:nvSpPr>
          <p:spPr>
            <a:xfrm>
              <a:off x="0" y="0"/>
              <a:ext cx="1349756" cy="1960118"/>
            </a:xfrm>
            <a:custGeom>
              <a:avLst/>
              <a:gdLst/>
              <a:ahLst/>
              <a:cxnLst/>
              <a:rect l="l" t="t" r="r" b="b"/>
              <a:pathLst>
                <a:path w="1349756" h="1960118">
                  <a:moveTo>
                    <a:pt x="0" y="0"/>
                  </a:moveTo>
                  <a:lnTo>
                    <a:pt x="1349756" y="0"/>
                  </a:lnTo>
                  <a:lnTo>
                    <a:pt x="1349756" y="1960118"/>
                  </a:lnTo>
                  <a:lnTo>
                    <a:pt x="0" y="1960118"/>
                  </a:lnTo>
                  <a:lnTo>
                    <a:pt x="0" y="0"/>
                  </a:lnTo>
                  <a:close/>
                </a:path>
              </a:pathLst>
            </a:custGeom>
            <a:blipFill>
              <a:blip r:embed="rId6"/>
              <a:stretch>
                <a:fillRect t="-20" b="-23"/>
              </a:stretch>
            </a:blipFill>
          </p:spPr>
        </p:sp>
      </p:grpSp>
      <p:sp>
        <p:nvSpPr>
          <p:cNvPr id="17" name="TextBox 17"/>
          <p:cNvSpPr txBox="1"/>
          <p:nvPr/>
        </p:nvSpPr>
        <p:spPr>
          <a:xfrm>
            <a:off x="8831904" y="3861787"/>
            <a:ext cx="2530973" cy="335461"/>
          </a:xfrm>
          <a:prstGeom prst="rect">
            <a:avLst/>
          </a:prstGeom>
        </p:spPr>
        <p:txBody>
          <a:bodyPr lIns="0" tIns="0" rIns="0" bIns="0" rtlCol="0" anchor="t">
            <a:spAutoFit/>
          </a:bodyPr>
          <a:lstStyle/>
          <a:p>
            <a:pPr algn="l">
              <a:lnSpc>
                <a:spcPts val="2400"/>
              </a:lnSpc>
            </a:pPr>
            <a:r>
              <a:rPr lang="en-US" sz="1900">
                <a:solidFill>
                  <a:srgbClr val="E2E6E9"/>
                </a:solidFill>
                <a:latin typeface="Merriweather"/>
                <a:ea typeface="Merriweather"/>
                <a:cs typeface="Merriweather"/>
                <a:sym typeface="Merriweather"/>
              </a:rPr>
              <a:t>Stepwise Regression</a:t>
            </a:r>
          </a:p>
        </p:txBody>
      </p:sp>
      <p:sp>
        <p:nvSpPr>
          <p:cNvPr id="18" name="TextBox 18"/>
          <p:cNvSpPr txBox="1"/>
          <p:nvPr/>
        </p:nvSpPr>
        <p:spPr>
          <a:xfrm>
            <a:off x="8831904" y="4250236"/>
            <a:ext cx="8646319"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RMSE: 0.315</a:t>
            </a:r>
          </a:p>
        </p:txBody>
      </p:sp>
      <p:sp>
        <p:nvSpPr>
          <p:cNvPr id="19" name="TextBox 19"/>
          <p:cNvSpPr txBox="1"/>
          <p:nvPr/>
        </p:nvSpPr>
        <p:spPr>
          <a:xfrm>
            <a:off x="8831904" y="4624683"/>
            <a:ext cx="8646319"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Improved model selection</a:t>
            </a:r>
          </a:p>
        </p:txBody>
      </p:sp>
      <p:grpSp>
        <p:nvGrpSpPr>
          <p:cNvPr id="20" name="Group 20"/>
          <p:cNvGrpSpPr/>
          <p:nvPr/>
        </p:nvGrpSpPr>
        <p:grpSpPr>
          <a:xfrm>
            <a:off x="7667777" y="5148558"/>
            <a:ext cx="1012327" cy="1470127"/>
            <a:chOff x="0" y="0"/>
            <a:chExt cx="1349769" cy="1960169"/>
          </a:xfrm>
        </p:grpSpPr>
        <p:sp>
          <p:nvSpPr>
            <p:cNvPr id="21" name="Freeform 21" descr="preencoded.png"/>
            <p:cNvSpPr/>
            <p:nvPr/>
          </p:nvSpPr>
          <p:spPr>
            <a:xfrm>
              <a:off x="0" y="0"/>
              <a:ext cx="1349756" cy="1960118"/>
            </a:xfrm>
            <a:custGeom>
              <a:avLst/>
              <a:gdLst/>
              <a:ahLst/>
              <a:cxnLst/>
              <a:rect l="l" t="t" r="r" b="b"/>
              <a:pathLst>
                <a:path w="1349756" h="1960118">
                  <a:moveTo>
                    <a:pt x="0" y="0"/>
                  </a:moveTo>
                  <a:lnTo>
                    <a:pt x="1349756" y="0"/>
                  </a:lnTo>
                  <a:lnTo>
                    <a:pt x="1349756" y="1960118"/>
                  </a:lnTo>
                  <a:lnTo>
                    <a:pt x="0" y="1960118"/>
                  </a:lnTo>
                  <a:lnTo>
                    <a:pt x="0" y="0"/>
                  </a:lnTo>
                  <a:close/>
                </a:path>
              </a:pathLst>
            </a:custGeom>
            <a:blipFill>
              <a:blip r:embed="rId7"/>
              <a:stretch>
                <a:fillRect t="-20" b="-23"/>
              </a:stretch>
            </a:blipFill>
          </p:spPr>
        </p:sp>
      </p:grpSp>
      <p:sp>
        <p:nvSpPr>
          <p:cNvPr id="22" name="TextBox 22"/>
          <p:cNvSpPr txBox="1"/>
          <p:nvPr/>
        </p:nvSpPr>
        <p:spPr>
          <a:xfrm>
            <a:off x="8831904" y="5331914"/>
            <a:ext cx="2530973" cy="335461"/>
          </a:xfrm>
          <a:prstGeom prst="rect">
            <a:avLst/>
          </a:prstGeom>
        </p:spPr>
        <p:txBody>
          <a:bodyPr lIns="0" tIns="0" rIns="0" bIns="0" rtlCol="0" anchor="t">
            <a:spAutoFit/>
          </a:bodyPr>
          <a:lstStyle/>
          <a:p>
            <a:pPr algn="l">
              <a:lnSpc>
                <a:spcPts val="2400"/>
              </a:lnSpc>
            </a:pPr>
            <a:r>
              <a:rPr lang="en-US" sz="1900">
                <a:solidFill>
                  <a:srgbClr val="E2E6E9"/>
                </a:solidFill>
                <a:latin typeface="Merriweather"/>
                <a:ea typeface="Merriweather"/>
                <a:cs typeface="Merriweather"/>
                <a:sym typeface="Merriweather"/>
              </a:rPr>
              <a:t>KNN Regression</a:t>
            </a:r>
          </a:p>
        </p:txBody>
      </p:sp>
      <p:sp>
        <p:nvSpPr>
          <p:cNvPr id="23" name="TextBox 23"/>
          <p:cNvSpPr txBox="1"/>
          <p:nvPr/>
        </p:nvSpPr>
        <p:spPr>
          <a:xfrm>
            <a:off x="8831904" y="5720363"/>
            <a:ext cx="8646319"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RMSE: 0.337</a:t>
            </a:r>
          </a:p>
        </p:txBody>
      </p:sp>
      <p:sp>
        <p:nvSpPr>
          <p:cNvPr id="24" name="TextBox 24"/>
          <p:cNvSpPr txBox="1"/>
          <p:nvPr/>
        </p:nvSpPr>
        <p:spPr>
          <a:xfrm>
            <a:off x="8831904" y="6094809"/>
            <a:ext cx="8646319"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Non-parametric approach</a:t>
            </a:r>
          </a:p>
        </p:txBody>
      </p:sp>
      <p:grpSp>
        <p:nvGrpSpPr>
          <p:cNvPr id="25" name="Group 25"/>
          <p:cNvGrpSpPr/>
          <p:nvPr/>
        </p:nvGrpSpPr>
        <p:grpSpPr>
          <a:xfrm>
            <a:off x="7667777" y="6618684"/>
            <a:ext cx="1012327" cy="1470127"/>
            <a:chOff x="0" y="0"/>
            <a:chExt cx="1349769" cy="1960169"/>
          </a:xfrm>
        </p:grpSpPr>
        <p:sp>
          <p:nvSpPr>
            <p:cNvPr id="26" name="Freeform 26" descr="preencoded.png"/>
            <p:cNvSpPr/>
            <p:nvPr/>
          </p:nvSpPr>
          <p:spPr>
            <a:xfrm>
              <a:off x="0" y="0"/>
              <a:ext cx="1349756" cy="1960118"/>
            </a:xfrm>
            <a:custGeom>
              <a:avLst/>
              <a:gdLst/>
              <a:ahLst/>
              <a:cxnLst/>
              <a:rect l="l" t="t" r="r" b="b"/>
              <a:pathLst>
                <a:path w="1349756" h="1960118">
                  <a:moveTo>
                    <a:pt x="0" y="0"/>
                  </a:moveTo>
                  <a:lnTo>
                    <a:pt x="1349756" y="0"/>
                  </a:lnTo>
                  <a:lnTo>
                    <a:pt x="1349756" y="1960118"/>
                  </a:lnTo>
                  <a:lnTo>
                    <a:pt x="0" y="1960118"/>
                  </a:lnTo>
                  <a:lnTo>
                    <a:pt x="0" y="0"/>
                  </a:lnTo>
                  <a:close/>
                </a:path>
              </a:pathLst>
            </a:custGeom>
            <a:blipFill>
              <a:blip r:embed="rId8"/>
              <a:stretch>
                <a:fillRect t="-20" b="-23"/>
              </a:stretch>
            </a:blipFill>
          </p:spPr>
        </p:sp>
      </p:grpSp>
      <p:sp>
        <p:nvSpPr>
          <p:cNvPr id="27" name="TextBox 27"/>
          <p:cNvSpPr txBox="1"/>
          <p:nvPr/>
        </p:nvSpPr>
        <p:spPr>
          <a:xfrm>
            <a:off x="8831904" y="6802041"/>
            <a:ext cx="2530973" cy="335461"/>
          </a:xfrm>
          <a:prstGeom prst="rect">
            <a:avLst/>
          </a:prstGeom>
        </p:spPr>
        <p:txBody>
          <a:bodyPr lIns="0" tIns="0" rIns="0" bIns="0" rtlCol="0" anchor="t">
            <a:spAutoFit/>
          </a:bodyPr>
          <a:lstStyle/>
          <a:p>
            <a:pPr algn="l">
              <a:lnSpc>
                <a:spcPts val="2400"/>
              </a:lnSpc>
            </a:pPr>
            <a:r>
              <a:rPr lang="en-US" sz="1900">
                <a:solidFill>
                  <a:srgbClr val="E2E6E9"/>
                </a:solidFill>
                <a:latin typeface="Merriweather"/>
                <a:ea typeface="Merriweather"/>
                <a:cs typeface="Merriweather"/>
                <a:sym typeface="Merriweather"/>
              </a:rPr>
              <a:t>Regularization</a:t>
            </a:r>
          </a:p>
        </p:txBody>
      </p:sp>
      <p:sp>
        <p:nvSpPr>
          <p:cNvPr id="28" name="TextBox 28"/>
          <p:cNvSpPr txBox="1"/>
          <p:nvPr/>
        </p:nvSpPr>
        <p:spPr>
          <a:xfrm>
            <a:off x="8831904" y="7190480"/>
            <a:ext cx="8646319"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RMSE: 0.355-0.356</a:t>
            </a:r>
          </a:p>
        </p:txBody>
      </p:sp>
      <p:sp>
        <p:nvSpPr>
          <p:cNvPr id="29" name="TextBox 29"/>
          <p:cNvSpPr txBox="1"/>
          <p:nvPr/>
        </p:nvSpPr>
        <p:spPr>
          <a:xfrm>
            <a:off x="8831904" y="7564936"/>
            <a:ext cx="8646319" cy="321469"/>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Reduced overfitting</a:t>
            </a:r>
          </a:p>
        </p:txBody>
      </p:sp>
      <p:sp>
        <p:nvSpPr>
          <p:cNvPr id="30" name="TextBox 30"/>
          <p:cNvSpPr txBox="1"/>
          <p:nvPr/>
        </p:nvSpPr>
        <p:spPr>
          <a:xfrm>
            <a:off x="7667777" y="8221418"/>
            <a:ext cx="9810455" cy="1454944"/>
          </a:xfrm>
          <a:prstGeom prst="rect">
            <a:avLst/>
          </a:prstGeom>
        </p:spPr>
        <p:txBody>
          <a:bodyPr lIns="0" tIns="0" rIns="0" bIns="0" rtlCol="0" anchor="t">
            <a:spAutoFit/>
          </a:bodyPr>
          <a:lstStyle/>
          <a:p>
            <a:pPr algn="l">
              <a:lnSpc>
                <a:spcPts val="2200"/>
              </a:lnSpc>
            </a:pPr>
            <a:r>
              <a:rPr lang="en-US" sz="1500">
                <a:solidFill>
                  <a:srgbClr val="E2E6E9"/>
                </a:solidFill>
                <a:latin typeface="Merriweather"/>
                <a:ea typeface="Merriweather"/>
                <a:cs typeface="Merriweather"/>
                <a:sym typeface="Merriweather"/>
              </a:rPr>
              <a:t>Linear regression achieved the lowest RMSE of 0.298, making it the best performing model. Stepwise regression with AIC improved upon the initial model by selecting relevant predictors. KNN regression provided a non-parametric alternative with moderate performance. Regularization methods showed slightly higher RMSE but offered benefits in handling multicollinearity and reducing overfitting.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995514" y="716604"/>
            <a:ext cx="13634885" cy="747128"/>
          </a:xfrm>
          <a:prstGeom prst="rect">
            <a:avLst/>
          </a:prstGeom>
        </p:spPr>
        <p:txBody>
          <a:bodyPr wrap="square" lIns="0" tIns="0" rIns="0" bIns="0" rtlCol="0" anchor="t">
            <a:spAutoFit/>
          </a:bodyPr>
          <a:lstStyle/>
          <a:p>
            <a:pPr algn="l">
              <a:lnSpc>
                <a:spcPts val="6100"/>
              </a:lnSpc>
            </a:pPr>
            <a:r>
              <a:rPr lang="en-US" sz="4800" dirty="0">
                <a:solidFill>
                  <a:srgbClr val="F5F0F0"/>
                </a:solidFill>
                <a:latin typeface="Merriweather"/>
                <a:ea typeface="Merriweather"/>
                <a:cs typeface="Merriweather"/>
                <a:sym typeface="Merriweather"/>
              </a:rPr>
              <a:t>Key Findings and Insights</a:t>
            </a:r>
          </a:p>
        </p:txBody>
      </p:sp>
      <p:grpSp>
        <p:nvGrpSpPr>
          <p:cNvPr id="7" name="Group 7"/>
          <p:cNvGrpSpPr/>
          <p:nvPr/>
        </p:nvGrpSpPr>
        <p:grpSpPr>
          <a:xfrm>
            <a:off x="990752" y="1977038"/>
            <a:ext cx="5288909" cy="2964952"/>
            <a:chOff x="0" y="0"/>
            <a:chExt cx="7051878" cy="3953269"/>
          </a:xfrm>
        </p:grpSpPr>
        <p:sp>
          <p:nvSpPr>
            <p:cNvPr id="8" name="Freeform 8"/>
            <p:cNvSpPr/>
            <p:nvPr/>
          </p:nvSpPr>
          <p:spPr>
            <a:xfrm>
              <a:off x="0" y="0"/>
              <a:ext cx="7051929" cy="3953256"/>
            </a:xfrm>
            <a:custGeom>
              <a:avLst/>
              <a:gdLst/>
              <a:ahLst/>
              <a:cxnLst/>
              <a:rect l="l" t="t" r="r" b="b"/>
              <a:pathLst>
                <a:path w="7051929" h="3953256">
                  <a:moveTo>
                    <a:pt x="0" y="139827"/>
                  </a:moveTo>
                  <a:cubicBezTo>
                    <a:pt x="0" y="62611"/>
                    <a:pt x="62611" y="0"/>
                    <a:pt x="139827" y="0"/>
                  </a:cubicBezTo>
                  <a:lnTo>
                    <a:pt x="6912102" y="0"/>
                  </a:lnTo>
                  <a:cubicBezTo>
                    <a:pt x="6989318" y="0"/>
                    <a:pt x="7051929" y="62611"/>
                    <a:pt x="7051929" y="139827"/>
                  </a:cubicBezTo>
                  <a:lnTo>
                    <a:pt x="7051929" y="3813429"/>
                  </a:lnTo>
                  <a:cubicBezTo>
                    <a:pt x="7051929" y="3890645"/>
                    <a:pt x="6989318" y="3953256"/>
                    <a:pt x="6912102" y="3953256"/>
                  </a:cubicBezTo>
                  <a:lnTo>
                    <a:pt x="139827" y="3953256"/>
                  </a:lnTo>
                  <a:cubicBezTo>
                    <a:pt x="62611" y="3953256"/>
                    <a:pt x="0" y="3890645"/>
                    <a:pt x="0" y="3813429"/>
                  </a:cubicBezTo>
                  <a:close/>
                </a:path>
              </a:pathLst>
            </a:custGeom>
            <a:solidFill>
              <a:srgbClr val="003180"/>
            </a:solidFill>
            <a:ln w="9526" cap="sq">
              <a:solidFill>
                <a:srgbClr val="194A99"/>
              </a:solidFill>
              <a:prstDash val="solid"/>
              <a:miter/>
            </a:ln>
          </p:spPr>
        </p:sp>
      </p:grpSp>
      <p:sp>
        <p:nvSpPr>
          <p:cNvPr id="9" name="TextBox 9"/>
          <p:cNvSpPr txBox="1"/>
          <p:nvPr/>
        </p:nvSpPr>
        <p:spPr>
          <a:xfrm>
            <a:off x="1253881" y="2221106"/>
            <a:ext cx="3117352" cy="407794"/>
          </a:xfrm>
          <a:prstGeom prst="rect">
            <a:avLst/>
          </a:prstGeom>
        </p:spPr>
        <p:txBody>
          <a:bodyPr lIns="0" tIns="0" rIns="0" bIns="0" rtlCol="0" anchor="t">
            <a:spAutoFit/>
          </a:bodyPr>
          <a:lstStyle/>
          <a:p>
            <a:pPr algn="l">
              <a:lnSpc>
                <a:spcPts val="3000"/>
              </a:lnSpc>
            </a:pPr>
            <a:r>
              <a:rPr lang="en-US" sz="2400">
                <a:solidFill>
                  <a:srgbClr val="E2E6E9"/>
                </a:solidFill>
                <a:latin typeface="Merriweather"/>
                <a:ea typeface="Merriweather"/>
                <a:cs typeface="Merriweather"/>
                <a:sym typeface="Merriweather"/>
              </a:rPr>
              <a:t>Location Dominance</a:t>
            </a:r>
          </a:p>
        </p:txBody>
      </p:sp>
      <p:sp>
        <p:nvSpPr>
          <p:cNvPr id="10" name="TextBox 10"/>
          <p:cNvSpPr txBox="1"/>
          <p:nvPr/>
        </p:nvSpPr>
        <p:spPr>
          <a:xfrm>
            <a:off x="1253881" y="2690222"/>
            <a:ext cx="4762652" cy="1988639"/>
          </a:xfrm>
          <a:prstGeom prst="rect">
            <a:avLst/>
          </a:prstGeom>
        </p:spPr>
        <p:txBody>
          <a:bodyPr lIns="0" tIns="0" rIns="0" bIns="0" rtlCol="0" anchor="t">
            <a:spAutoFit/>
          </a:bodyPr>
          <a:lstStyle/>
          <a:p>
            <a:pPr algn="l">
              <a:lnSpc>
                <a:spcPts val="3000"/>
              </a:lnSpc>
            </a:pPr>
            <a:r>
              <a:rPr lang="en-US" sz="1900">
                <a:solidFill>
                  <a:srgbClr val="E2E6E9"/>
                </a:solidFill>
                <a:latin typeface="Merriweather"/>
                <a:ea typeface="Merriweather"/>
                <a:cs typeface="Merriweather"/>
                <a:sym typeface="Merriweather"/>
              </a:rPr>
              <a:t>Geographic location emerged as the primary determinant of Airbnb prices, with proximity to city centers and metro stations significantly impacting listing values</a:t>
            </a:r>
          </a:p>
        </p:txBody>
      </p:sp>
      <p:grpSp>
        <p:nvGrpSpPr>
          <p:cNvPr id="11" name="Group 11"/>
          <p:cNvGrpSpPr/>
          <p:nvPr/>
        </p:nvGrpSpPr>
        <p:grpSpPr>
          <a:xfrm>
            <a:off x="6499469" y="1977038"/>
            <a:ext cx="5288909" cy="2964952"/>
            <a:chOff x="0" y="0"/>
            <a:chExt cx="7051878" cy="3953269"/>
          </a:xfrm>
        </p:grpSpPr>
        <p:sp>
          <p:nvSpPr>
            <p:cNvPr id="12" name="Freeform 12"/>
            <p:cNvSpPr/>
            <p:nvPr/>
          </p:nvSpPr>
          <p:spPr>
            <a:xfrm>
              <a:off x="0" y="0"/>
              <a:ext cx="7051929" cy="3953256"/>
            </a:xfrm>
            <a:custGeom>
              <a:avLst/>
              <a:gdLst/>
              <a:ahLst/>
              <a:cxnLst/>
              <a:rect l="l" t="t" r="r" b="b"/>
              <a:pathLst>
                <a:path w="7051929" h="3953256">
                  <a:moveTo>
                    <a:pt x="0" y="139827"/>
                  </a:moveTo>
                  <a:cubicBezTo>
                    <a:pt x="0" y="62611"/>
                    <a:pt x="62611" y="0"/>
                    <a:pt x="139827" y="0"/>
                  </a:cubicBezTo>
                  <a:lnTo>
                    <a:pt x="6912102" y="0"/>
                  </a:lnTo>
                  <a:cubicBezTo>
                    <a:pt x="6989318" y="0"/>
                    <a:pt x="7051929" y="62611"/>
                    <a:pt x="7051929" y="139827"/>
                  </a:cubicBezTo>
                  <a:lnTo>
                    <a:pt x="7051929" y="3813429"/>
                  </a:lnTo>
                  <a:cubicBezTo>
                    <a:pt x="7051929" y="3890645"/>
                    <a:pt x="6989318" y="3953256"/>
                    <a:pt x="6912102" y="3953256"/>
                  </a:cubicBezTo>
                  <a:lnTo>
                    <a:pt x="139827" y="3953256"/>
                  </a:lnTo>
                  <a:cubicBezTo>
                    <a:pt x="62611" y="3953256"/>
                    <a:pt x="0" y="3890645"/>
                    <a:pt x="0" y="3813429"/>
                  </a:cubicBezTo>
                  <a:close/>
                </a:path>
              </a:pathLst>
            </a:custGeom>
            <a:solidFill>
              <a:srgbClr val="003180"/>
            </a:solidFill>
            <a:ln w="9526" cap="sq">
              <a:solidFill>
                <a:srgbClr val="194A99"/>
              </a:solidFill>
              <a:prstDash val="solid"/>
              <a:miter/>
            </a:ln>
          </p:spPr>
        </p:sp>
      </p:grpSp>
      <p:sp>
        <p:nvSpPr>
          <p:cNvPr id="13" name="TextBox 13"/>
          <p:cNvSpPr txBox="1"/>
          <p:nvPr/>
        </p:nvSpPr>
        <p:spPr>
          <a:xfrm>
            <a:off x="6762598" y="2221106"/>
            <a:ext cx="3110951" cy="407794"/>
          </a:xfrm>
          <a:prstGeom prst="rect">
            <a:avLst/>
          </a:prstGeom>
        </p:spPr>
        <p:txBody>
          <a:bodyPr lIns="0" tIns="0" rIns="0" bIns="0" rtlCol="0" anchor="t">
            <a:spAutoFit/>
          </a:bodyPr>
          <a:lstStyle/>
          <a:p>
            <a:pPr algn="l">
              <a:lnSpc>
                <a:spcPts val="3000"/>
              </a:lnSpc>
            </a:pPr>
            <a:r>
              <a:rPr lang="en-US" sz="2400">
                <a:solidFill>
                  <a:srgbClr val="E2E6E9"/>
                </a:solidFill>
                <a:latin typeface="Merriweather"/>
                <a:ea typeface="Merriweather"/>
                <a:cs typeface="Merriweather"/>
                <a:sym typeface="Merriweather"/>
              </a:rPr>
              <a:t>Property Features</a:t>
            </a:r>
          </a:p>
        </p:txBody>
      </p:sp>
      <p:sp>
        <p:nvSpPr>
          <p:cNvPr id="14" name="TextBox 14"/>
          <p:cNvSpPr txBox="1"/>
          <p:nvPr/>
        </p:nvSpPr>
        <p:spPr>
          <a:xfrm>
            <a:off x="6762598" y="2690222"/>
            <a:ext cx="4762652" cy="1606153"/>
          </a:xfrm>
          <a:prstGeom prst="rect">
            <a:avLst/>
          </a:prstGeom>
        </p:spPr>
        <p:txBody>
          <a:bodyPr lIns="0" tIns="0" rIns="0" bIns="0" rtlCol="0" anchor="t">
            <a:spAutoFit/>
          </a:bodyPr>
          <a:lstStyle/>
          <a:p>
            <a:pPr algn="l">
              <a:lnSpc>
                <a:spcPts val="3000"/>
              </a:lnSpc>
            </a:pPr>
            <a:r>
              <a:rPr lang="en-US" sz="1900">
                <a:solidFill>
                  <a:srgbClr val="E2E6E9"/>
                </a:solidFill>
                <a:latin typeface="Merriweather"/>
                <a:ea typeface="Merriweather"/>
                <a:cs typeface="Merriweather"/>
                <a:sym typeface="Merriweather"/>
              </a:rPr>
              <a:t>Physical characteristics such as number of bedrooms, maximum guests, and cleanliness scores showed strong positive correlation with pricing</a:t>
            </a:r>
          </a:p>
        </p:txBody>
      </p:sp>
      <p:grpSp>
        <p:nvGrpSpPr>
          <p:cNvPr id="15" name="Group 15"/>
          <p:cNvGrpSpPr/>
          <p:nvPr/>
        </p:nvGrpSpPr>
        <p:grpSpPr>
          <a:xfrm>
            <a:off x="12008196" y="1977038"/>
            <a:ext cx="5289052" cy="2964952"/>
            <a:chOff x="0" y="0"/>
            <a:chExt cx="7052069" cy="3953269"/>
          </a:xfrm>
        </p:grpSpPr>
        <p:sp>
          <p:nvSpPr>
            <p:cNvPr id="16" name="Freeform 16"/>
            <p:cNvSpPr/>
            <p:nvPr/>
          </p:nvSpPr>
          <p:spPr>
            <a:xfrm>
              <a:off x="0" y="0"/>
              <a:ext cx="7052056" cy="3953256"/>
            </a:xfrm>
            <a:custGeom>
              <a:avLst/>
              <a:gdLst/>
              <a:ahLst/>
              <a:cxnLst/>
              <a:rect l="l" t="t" r="r" b="b"/>
              <a:pathLst>
                <a:path w="7052056" h="3953256">
                  <a:moveTo>
                    <a:pt x="0" y="139827"/>
                  </a:moveTo>
                  <a:cubicBezTo>
                    <a:pt x="0" y="62611"/>
                    <a:pt x="62611" y="0"/>
                    <a:pt x="139827" y="0"/>
                  </a:cubicBezTo>
                  <a:lnTo>
                    <a:pt x="6912229" y="0"/>
                  </a:lnTo>
                  <a:cubicBezTo>
                    <a:pt x="6989445" y="0"/>
                    <a:pt x="7052056" y="62611"/>
                    <a:pt x="7052056" y="139827"/>
                  </a:cubicBezTo>
                  <a:lnTo>
                    <a:pt x="7052056" y="3813429"/>
                  </a:lnTo>
                  <a:cubicBezTo>
                    <a:pt x="7052056" y="3890645"/>
                    <a:pt x="6989445" y="3953256"/>
                    <a:pt x="6912229" y="3953256"/>
                  </a:cubicBezTo>
                  <a:lnTo>
                    <a:pt x="139827" y="3953256"/>
                  </a:lnTo>
                  <a:cubicBezTo>
                    <a:pt x="62611" y="3953256"/>
                    <a:pt x="0" y="3890645"/>
                    <a:pt x="0" y="3813429"/>
                  </a:cubicBezTo>
                  <a:close/>
                </a:path>
              </a:pathLst>
            </a:custGeom>
            <a:solidFill>
              <a:srgbClr val="003180"/>
            </a:solidFill>
            <a:ln w="9526" cap="sq">
              <a:solidFill>
                <a:srgbClr val="194A99"/>
              </a:solidFill>
              <a:prstDash val="solid"/>
              <a:miter/>
            </a:ln>
          </p:spPr>
        </p:sp>
      </p:grpSp>
      <p:sp>
        <p:nvSpPr>
          <p:cNvPr id="17" name="TextBox 17"/>
          <p:cNvSpPr txBox="1"/>
          <p:nvPr/>
        </p:nvSpPr>
        <p:spPr>
          <a:xfrm>
            <a:off x="12271324" y="2221106"/>
            <a:ext cx="3110951" cy="407794"/>
          </a:xfrm>
          <a:prstGeom prst="rect">
            <a:avLst/>
          </a:prstGeom>
        </p:spPr>
        <p:txBody>
          <a:bodyPr lIns="0" tIns="0" rIns="0" bIns="0" rtlCol="0" anchor="t">
            <a:spAutoFit/>
          </a:bodyPr>
          <a:lstStyle/>
          <a:p>
            <a:pPr algn="l">
              <a:lnSpc>
                <a:spcPts val="3000"/>
              </a:lnSpc>
            </a:pPr>
            <a:r>
              <a:rPr lang="en-US" sz="2400">
                <a:solidFill>
                  <a:srgbClr val="E2E6E9"/>
                </a:solidFill>
                <a:latin typeface="Merriweather"/>
                <a:ea typeface="Merriweather"/>
                <a:cs typeface="Merriweather"/>
                <a:sym typeface="Merriweather"/>
              </a:rPr>
              <a:t>Economic Factors</a:t>
            </a:r>
          </a:p>
        </p:txBody>
      </p:sp>
      <p:sp>
        <p:nvSpPr>
          <p:cNvPr id="18" name="TextBox 18"/>
          <p:cNvSpPr txBox="1"/>
          <p:nvPr/>
        </p:nvSpPr>
        <p:spPr>
          <a:xfrm>
            <a:off x="12271324" y="2690222"/>
            <a:ext cx="4762795" cy="1606153"/>
          </a:xfrm>
          <a:prstGeom prst="rect">
            <a:avLst/>
          </a:prstGeom>
        </p:spPr>
        <p:txBody>
          <a:bodyPr lIns="0" tIns="0" rIns="0" bIns="0" rtlCol="0" anchor="t">
            <a:spAutoFit/>
          </a:bodyPr>
          <a:lstStyle/>
          <a:p>
            <a:pPr algn="l">
              <a:lnSpc>
                <a:spcPts val="3000"/>
              </a:lnSpc>
            </a:pPr>
            <a:r>
              <a:rPr lang="en-US" sz="1900">
                <a:solidFill>
                  <a:srgbClr val="E2E6E9"/>
                </a:solidFill>
                <a:latin typeface="Merriweather"/>
                <a:ea typeface="Merriweather"/>
                <a:cs typeface="Merriweather"/>
                <a:sym typeface="Merriweather"/>
              </a:rPr>
              <a:t>Local economic indicators including rent levels, average salaries, and cost of living contributed to price variations across different markets</a:t>
            </a:r>
          </a:p>
        </p:txBody>
      </p:sp>
      <p:sp>
        <p:nvSpPr>
          <p:cNvPr id="19" name="TextBox 19"/>
          <p:cNvSpPr txBox="1"/>
          <p:nvPr/>
        </p:nvSpPr>
        <p:spPr>
          <a:xfrm>
            <a:off x="995514" y="5262267"/>
            <a:ext cx="7157885" cy="443135"/>
          </a:xfrm>
          <a:prstGeom prst="rect">
            <a:avLst/>
          </a:prstGeom>
        </p:spPr>
        <p:txBody>
          <a:bodyPr wrap="square" lIns="0" tIns="0" rIns="0" bIns="0" rtlCol="0" anchor="t">
            <a:spAutoFit/>
          </a:bodyPr>
          <a:lstStyle/>
          <a:p>
            <a:pPr algn="l">
              <a:lnSpc>
                <a:spcPts val="3600"/>
              </a:lnSpc>
            </a:pPr>
            <a:r>
              <a:rPr lang="en-US" sz="2900" dirty="0">
                <a:solidFill>
                  <a:srgbClr val="F5F0F0"/>
                </a:solidFill>
                <a:latin typeface="Merriweather"/>
                <a:ea typeface="Merriweather"/>
                <a:cs typeface="Merriweather"/>
                <a:sym typeface="Merriweather"/>
              </a:rPr>
              <a:t>Interpretation of Log Model</a:t>
            </a:r>
          </a:p>
        </p:txBody>
      </p:sp>
      <p:sp>
        <p:nvSpPr>
          <p:cNvPr id="20" name="TextBox 20"/>
          <p:cNvSpPr txBox="1"/>
          <p:nvPr/>
        </p:nvSpPr>
        <p:spPr>
          <a:xfrm>
            <a:off x="995515" y="6015780"/>
            <a:ext cx="16296980" cy="1223667"/>
          </a:xfrm>
          <a:prstGeom prst="rect">
            <a:avLst/>
          </a:prstGeom>
        </p:spPr>
        <p:txBody>
          <a:bodyPr lIns="0" tIns="0" rIns="0" bIns="0" rtlCol="0" anchor="t">
            <a:spAutoFit/>
          </a:bodyPr>
          <a:lstStyle/>
          <a:p>
            <a:pPr algn="l">
              <a:lnSpc>
                <a:spcPts val="3000"/>
              </a:lnSpc>
            </a:pPr>
            <a:r>
              <a:rPr lang="en-US" sz="1900">
                <a:solidFill>
                  <a:srgbClr val="E2E6E9"/>
                </a:solidFill>
                <a:latin typeface="Merriweather"/>
                <a:ea typeface="Merriweather"/>
                <a:cs typeface="Merriweather"/>
                <a:sym typeface="Merriweather"/>
              </a:rPr>
              <a:t>Since the response variable was log-transformed, the coefficients represent percentage changes in price. For example, an increase in a predictor variable corresponds to a proportional percentage increase or decrease in the price. This interpretation makes the model results more intuitive for business applications.</a:t>
            </a:r>
          </a:p>
        </p:txBody>
      </p:sp>
      <p:sp>
        <p:nvSpPr>
          <p:cNvPr id="21" name="TextBox 21"/>
          <p:cNvSpPr txBox="1"/>
          <p:nvPr/>
        </p:nvSpPr>
        <p:spPr>
          <a:xfrm>
            <a:off x="995514" y="7564488"/>
            <a:ext cx="9215285" cy="443135"/>
          </a:xfrm>
          <a:prstGeom prst="rect">
            <a:avLst/>
          </a:prstGeom>
        </p:spPr>
        <p:txBody>
          <a:bodyPr wrap="square" lIns="0" tIns="0" rIns="0" bIns="0" rtlCol="0" anchor="t">
            <a:spAutoFit/>
          </a:bodyPr>
          <a:lstStyle/>
          <a:p>
            <a:pPr algn="l">
              <a:lnSpc>
                <a:spcPts val="3600"/>
              </a:lnSpc>
            </a:pPr>
            <a:r>
              <a:rPr lang="en-US" sz="2900" dirty="0">
                <a:solidFill>
                  <a:srgbClr val="F5F0F0"/>
                </a:solidFill>
                <a:latin typeface="Merriweather"/>
                <a:ea typeface="Merriweather"/>
                <a:cs typeface="Merriweather"/>
                <a:sym typeface="Merriweather"/>
              </a:rPr>
              <a:t>Multicollinearity Resolution</a:t>
            </a:r>
          </a:p>
        </p:txBody>
      </p:sp>
      <p:sp>
        <p:nvSpPr>
          <p:cNvPr id="22" name="TextBox 22"/>
          <p:cNvSpPr txBox="1"/>
          <p:nvPr/>
        </p:nvSpPr>
        <p:spPr>
          <a:xfrm>
            <a:off x="995515" y="8318002"/>
            <a:ext cx="16296980" cy="1223667"/>
          </a:xfrm>
          <a:prstGeom prst="rect">
            <a:avLst/>
          </a:prstGeom>
        </p:spPr>
        <p:txBody>
          <a:bodyPr lIns="0" tIns="0" rIns="0" bIns="0" rtlCol="0" anchor="t">
            <a:spAutoFit/>
          </a:bodyPr>
          <a:lstStyle/>
          <a:p>
            <a:pPr algn="l">
              <a:lnSpc>
                <a:spcPts val="3000"/>
              </a:lnSpc>
            </a:pPr>
            <a:r>
              <a:rPr lang="en-US" sz="1900" dirty="0">
                <a:solidFill>
                  <a:srgbClr val="E2E6E9"/>
                </a:solidFill>
                <a:latin typeface="Merriweather"/>
                <a:ea typeface="Merriweather"/>
                <a:cs typeface="Merriweather"/>
                <a:sym typeface="Merriweather"/>
              </a:rPr>
              <a:t>The initial model showed evidence of multicollinearity due to redundant and highly correlated predictors. After removing dummy variable traps, normalized duplicates, and hierarchical categorical variables, the VIF values were reduced to acceptable levels, leading to improved model stability and reliable coefficient estimates.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9151A">
                <a:alpha val="90196"/>
              </a:srgbClr>
            </a:solidFill>
          </p:spPr>
        </p:sp>
      </p:grpSp>
      <p:sp>
        <p:nvSpPr>
          <p:cNvPr id="6" name="TextBox 6"/>
          <p:cNvSpPr txBox="1"/>
          <p:nvPr/>
        </p:nvSpPr>
        <p:spPr>
          <a:xfrm>
            <a:off x="979141" y="650977"/>
            <a:ext cx="12432059" cy="685637"/>
          </a:xfrm>
          <a:prstGeom prst="rect">
            <a:avLst/>
          </a:prstGeom>
        </p:spPr>
        <p:txBody>
          <a:bodyPr wrap="square" lIns="0" tIns="0" rIns="0" bIns="0" rtlCol="0" anchor="t">
            <a:spAutoFit/>
          </a:bodyPr>
          <a:lstStyle/>
          <a:p>
            <a:pPr algn="l">
              <a:lnSpc>
                <a:spcPts val="5599"/>
              </a:lnSpc>
            </a:pPr>
            <a:r>
              <a:rPr lang="en-US" sz="4400" dirty="0">
                <a:solidFill>
                  <a:srgbClr val="F5F0F0"/>
                </a:solidFill>
                <a:latin typeface="Merriweather"/>
                <a:ea typeface="Merriweather"/>
                <a:cs typeface="Merriweather"/>
                <a:sym typeface="Merriweather"/>
              </a:rPr>
              <a:t>Conclusion and Future Directions</a:t>
            </a:r>
          </a:p>
        </p:txBody>
      </p:sp>
      <p:sp>
        <p:nvSpPr>
          <p:cNvPr id="7" name="TextBox 7"/>
          <p:cNvSpPr txBox="1"/>
          <p:nvPr/>
        </p:nvSpPr>
        <p:spPr>
          <a:xfrm>
            <a:off x="979141" y="1785785"/>
            <a:ext cx="10419750" cy="1065314"/>
          </a:xfrm>
          <a:prstGeom prst="rect">
            <a:avLst/>
          </a:prstGeom>
        </p:spPr>
        <p:txBody>
          <a:bodyPr lIns="0" tIns="0" rIns="0" bIns="0" rtlCol="0" anchor="t">
            <a:spAutoFit/>
          </a:bodyPr>
          <a:lstStyle/>
          <a:p>
            <a:pPr algn="l">
              <a:lnSpc>
                <a:spcPts val="2600"/>
              </a:lnSpc>
            </a:pPr>
            <a:r>
              <a:rPr lang="en-US" sz="1700">
                <a:solidFill>
                  <a:srgbClr val="E2E6E9"/>
                </a:solidFill>
                <a:latin typeface="Merriweather"/>
                <a:ea typeface="Merriweather"/>
                <a:cs typeface="Merriweather"/>
                <a:sym typeface="Merriweather"/>
              </a:rPr>
              <a:t>This study successfully developed predictive models for Airbnb listing prices using regression and machine learning techniques. The analysis demonstrated that linear regression achieved the best performance with RMSE of 0.298, followed by stepwise regression and KNN methods.</a:t>
            </a:r>
          </a:p>
        </p:txBody>
      </p:sp>
      <p:sp>
        <p:nvSpPr>
          <p:cNvPr id="8" name="TextBox 8"/>
          <p:cNvSpPr txBox="1"/>
          <p:nvPr/>
        </p:nvSpPr>
        <p:spPr>
          <a:xfrm>
            <a:off x="979141" y="2966885"/>
            <a:ext cx="10419750" cy="1065314"/>
          </a:xfrm>
          <a:prstGeom prst="rect">
            <a:avLst/>
          </a:prstGeom>
        </p:spPr>
        <p:txBody>
          <a:bodyPr lIns="0" tIns="0" rIns="0" bIns="0" rtlCol="0" anchor="t">
            <a:spAutoFit/>
          </a:bodyPr>
          <a:lstStyle/>
          <a:p>
            <a:pPr algn="l">
              <a:lnSpc>
                <a:spcPts val="2600"/>
              </a:lnSpc>
            </a:pPr>
            <a:r>
              <a:rPr lang="en-US" sz="1700">
                <a:solidFill>
                  <a:srgbClr val="E2E6E9"/>
                </a:solidFill>
                <a:latin typeface="Merriweather"/>
                <a:ea typeface="Merriweather"/>
                <a:cs typeface="Merriweather"/>
                <a:sym typeface="Merriweather"/>
              </a:rPr>
              <a:t>The project highlights the importance of data preprocessing, model selection, and validation in predictive analytics. Key factors influencing prices include location, property characteristics, and socio-economic indicators.</a:t>
            </a:r>
          </a:p>
        </p:txBody>
      </p:sp>
      <p:sp>
        <p:nvSpPr>
          <p:cNvPr id="9" name="TextBox 9"/>
          <p:cNvSpPr txBox="1"/>
          <p:nvPr/>
        </p:nvSpPr>
        <p:spPr>
          <a:xfrm>
            <a:off x="11964143" y="1852613"/>
            <a:ext cx="2847232" cy="365369"/>
          </a:xfrm>
          <a:prstGeom prst="rect">
            <a:avLst/>
          </a:prstGeom>
        </p:spPr>
        <p:txBody>
          <a:bodyPr lIns="0" tIns="0" rIns="0" bIns="0" rtlCol="0" anchor="t">
            <a:spAutoFit/>
          </a:bodyPr>
          <a:lstStyle/>
          <a:p>
            <a:pPr algn="l">
              <a:lnSpc>
                <a:spcPts val="2799"/>
              </a:lnSpc>
            </a:pPr>
            <a:r>
              <a:rPr lang="en-US" sz="2200">
                <a:solidFill>
                  <a:srgbClr val="F5F0F0"/>
                </a:solidFill>
                <a:latin typeface="Merriweather"/>
                <a:ea typeface="Merriweather"/>
                <a:cs typeface="Merriweather"/>
                <a:sym typeface="Merriweather"/>
              </a:rPr>
              <a:t>Project Success</a:t>
            </a:r>
          </a:p>
        </p:txBody>
      </p:sp>
      <p:sp>
        <p:nvSpPr>
          <p:cNvPr id="10" name="TextBox 10"/>
          <p:cNvSpPr txBox="1"/>
          <p:nvPr/>
        </p:nvSpPr>
        <p:spPr>
          <a:xfrm>
            <a:off x="11964143" y="2352970"/>
            <a:ext cx="5354088" cy="393202"/>
          </a:xfrm>
          <a:prstGeom prst="rect">
            <a:avLst/>
          </a:prstGeom>
        </p:spPr>
        <p:txBody>
          <a:bodyPr lIns="0" tIns="0" rIns="0" bIns="0" rtlCol="0" anchor="t">
            <a:spAutoFit/>
          </a:bodyPr>
          <a:lstStyle/>
          <a:p>
            <a:pPr algn="l">
              <a:lnSpc>
                <a:spcPts val="2600"/>
              </a:lnSpc>
            </a:pPr>
            <a:r>
              <a:rPr lang="en-US" sz="1700">
                <a:solidFill>
                  <a:srgbClr val="E2E6E9"/>
                </a:solidFill>
                <a:latin typeface="Merriweather"/>
                <a:ea typeface="Merriweather"/>
                <a:cs typeface="Merriweather"/>
                <a:sym typeface="Merriweather"/>
              </a:rPr>
              <a:t>Multiple models developed and validated</a:t>
            </a:r>
          </a:p>
        </p:txBody>
      </p:sp>
      <p:grpSp>
        <p:nvGrpSpPr>
          <p:cNvPr id="11" name="Group 11"/>
          <p:cNvGrpSpPr/>
          <p:nvPr/>
        </p:nvGrpSpPr>
        <p:grpSpPr>
          <a:xfrm>
            <a:off x="964854" y="4748508"/>
            <a:ext cx="5343677" cy="2333482"/>
            <a:chOff x="0" y="0"/>
            <a:chExt cx="7124903" cy="3111310"/>
          </a:xfrm>
        </p:grpSpPr>
        <p:sp>
          <p:nvSpPr>
            <p:cNvPr id="12" name="Freeform 12"/>
            <p:cNvSpPr/>
            <p:nvPr/>
          </p:nvSpPr>
          <p:spPr>
            <a:xfrm>
              <a:off x="0" y="0"/>
              <a:ext cx="7124954" cy="3111373"/>
            </a:xfrm>
            <a:custGeom>
              <a:avLst/>
              <a:gdLst/>
              <a:ahLst/>
              <a:cxnLst/>
              <a:rect l="l" t="t" r="r" b="b"/>
              <a:pathLst>
                <a:path w="7124954" h="3111373">
                  <a:moveTo>
                    <a:pt x="0" y="185166"/>
                  </a:moveTo>
                  <a:cubicBezTo>
                    <a:pt x="0" y="82931"/>
                    <a:pt x="82931" y="0"/>
                    <a:pt x="185166" y="0"/>
                  </a:cubicBezTo>
                  <a:lnTo>
                    <a:pt x="6939788" y="0"/>
                  </a:lnTo>
                  <a:cubicBezTo>
                    <a:pt x="7042023" y="0"/>
                    <a:pt x="7124954" y="82931"/>
                    <a:pt x="7124954" y="185166"/>
                  </a:cubicBezTo>
                  <a:lnTo>
                    <a:pt x="7124954" y="2926207"/>
                  </a:lnTo>
                  <a:cubicBezTo>
                    <a:pt x="7124954" y="3028442"/>
                    <a:pt x="7042023" y="3111373"/>
                    <a:pt x="6939788" y="3111373"/>
                  </a:cubicBezTo>
                  <a:lnTo>
                    <a:pt x="185166" y="3111373"/>
                  </a:lnTo>
                  <a:cubicBezTo>
                    <a:pt x="82931" y="3111246"/>
                    <a:pt x="0" y="3028442"/>
                    <a:pt x="0" y="2926207"/>
                  </a:cubicBezTo>
                  <a:close/>
                </a:path>
              </a:pathLst>
            </a:custGeom>
            <a:solidFill>
              <a:srgbClr val="09151A">
                <a:alpha val="90196"/>
              </a:srgbClr>
            </a:solidFill>
            <a:ln w="28576" cap="sq">
              <a:solidFill>
                <a:srgbClr val="194A99"/>
              </a:solidFill>
              <a:prstDash val="solid"/>
              <a:miter/>
            </a:ln>
          </p:spPr>
        </p:sp>
      </p:grpSp>
      <p:grpSp>
        <p:nvGrpSpPr>
          <p:cNvPr id="13" name="Group 13"/>
          <p:cNvGrpSpPr/>
          <p:nvPr/>
        </p:nvGrpSpPr>
        <p:grpSpPr>
          <a:xfrm>
            <a:off x="979141" y="4734220"/>
            <a:ext cx="5315102" cy="114300"/>
            <a:chOff x="0" y="0"/>
            <a:chExt cx="7086803" cy="152400"/>
          </a:xfrm>
        </p:grpSpPr>
        <p:sp>
          <p:nvSpPr>
            <p:cNvPr id="14" name="Freeform 14"/>
            <p:cNvSpPr/>
            <p:nvPr/>
          </p:nvSpPr>
          <p:spPr>
            <a:xfrm>
              <a:off x="0" y="0"/>
              <a:ext cx="7086854" cy="152400"/>
            </a:xfrm>
            <a:custGeom>
              <a:avLst/>
              <a:gdLst/>
              <a:ahLst/>
              <a:cxnLst/>
              <a:rect l="l" t="t" r="r" b="b"/>
              <a:pathLst>
                <a:path w="7086854" h="152400">
                  <a:moveTo>
                    <a:pt x="0" y="76200"/>
                  </a:moveTo>
                  <a:cubicBezTo>
                    <a:pt x="0" y="34163"/>
                    <a:pt x="34163" y="0"/>
                    <a:pt x="76200" y="0"/>
                  </a:cubicBezTo>
                  <a:lnTo>
                    <a:pt x="7010654" y="0"/>
                  </a:lnTo>
                  <a:cubicBezTo>
                    <a:pt x="7052691" y="0"/>
                    <a:pt x="7086854" y="34163"/>
                    <a:pt x="7086854" y="76200"/>
                  </a:cubicBezTo>
                  <a:cubicBezTo>
                    <a:pt x="7086854" y="118237"/>
                    <a:pt x="7052691" y="152400"/>
                    <a:pt x="7010654" y="152400"/>
                  </a:cubicBezTo>
                  <a:lnTo>
                    <a:pt x="76200" y="152400"/>
                  </a:lnTo>
                  <a:cubicBezTo>
                    <a:pt x="34163" y="152400"/>
                    <a:pt x="0" y="118237"/>
                    <a:pt x="0" y="76200"/>
                  </a:cubicBezTo>
                  <a:close/>
                </a:path>
              </a:pathLst>
            </a:custGeom>
            <a:solidFill>
              <a:srgbClr val="609DFF"/>
            </a:solidFill>
          </p:spPr>
        </p:sp>
      </p:grpSp>
      <p:grpSp>
        <p:nvGrpSpPr>
          <p:cNvPr id="15" name="Group 15"/>
          <p:cNvGrpSpPr/>
          <p:nvPr/>
        </p:nvGrpSpPr>
        <p:grpSpPr>
          <a:xfrm>
            <a:off x="3294983" y="4421238"/>
            <a:ext cx="683266" cy="683266"/>
            <a:chOff x="0" y="0"/>
            <a:chExt cx="911022" cy="911022"/>
          </a:xfrm>
        </p:grpSpPr>
        <p:sp>
          <p:nvSpPr>
            <p:cNvPr id="16" name="Freeform 16"/>
            <p:cNvSpPr/>
            <p:nvPr/>
          </p:nvSpPr>
          <p:spPr>
            <a:xfrm>
              <a:off x="0" y="0"/>
              <a:ext cx="910971" cy="910971"/>
            </a:xfrm>
            <a:custGeom>
              <a:avLst/>
              <a:gdLst/>
              <a:ahLst/>
              <a:cxnLst/>
              <a:rect l="l" t="t" r="r" b="b"/>
              <a:pathLst>
                <a:path w="910971" h="910971">
                  <a:moveTo>
                    <a:pt x="0" y="455549"/>
                  </a:moveTo>
                  <a:cubicBezTo>
                    <a:pt x="0" y="203962"/>
                    <a:pt x="203962" y="0"/>
                    <a:pt x="455549" y="0"/>
                  </a:cubicBezTo>
                  <a:cubicBezTo>
                    <a:pt x="707136" y="0"/>
                    <a:pt x="910971" y="203962"/>
                    <a:pt x="910971" y="455549"/>
                  </a:cubicBezTo>
                  <a:cubicBezTo>
                    <a:pt x="910971" y="707136"/>
                    <a:pt x="707136" y="910971"/>
                    <a:pt x="455549" y="910971"/>
                  </a:cubicBezTo>
                  <a:cubicBezTo>
                    <a:pt x="203962" y="910971"/>
                    <a:pt x="0" y="707136"/>
                    <a:pt x="0" y="455549"/>
                  </a:cubicBezTo>
                  <a:close/>
                </a:path>
              </a:pathLst>
            </a:custGeom>
            <a:solidFill>
              <a:srgbClr val="609DFF"/>
            </a:solidFill>
          </p:spPr>
        </p:sp>
      </p:grpSp>
      <p:grpSp>
        <p:nvGrpSpPr>
          <p:cNvPr id="17" name="Group 17"/>
          <p:cNvGrpSpPr/>
          <p:nvPr/>
        </p:nvGrpSpPr>
        <p:grpSpPr>
          <a:xfrm>
            <a:off x="3499914" y="4592088"/>
            <a:ext cx="273244" cy="341557"/>
            <a:chOff x="0" y="0"/>
            <a:chExt cx="364325" cy="455409"/>
          </a:xfrm>
        </p:grpSpPr>
        <p:sp>
          <p:nvSpPr>
            <p:cNvPr id="18" name="Freeform 18"/>
            <p:cNvSpPr/>
            <p:nvPr/>
          </p:nvSpPr>
          <p:spPr>
            <a:xfrm>
              <a:off x="0" y="0"/>
              <a:ext cx="364331" cy="455413"/>
            </a:xfrm>
            <a:custGeom>
              <a:avLst/>
              <a:gdLst/>
              <a:ahLst/>
              <a:cxnLst/>
              <a:rect l="l" t="t" r="r" b="b"/>
              <a:pathLst>
                <a:path w="364331" h="455413">
                  <a:moveTo>
                    <a:pt x="0" y="0"/>
                  </a:moveTo>
                  <a:lnTo>
                    <a:pt x="364331" y="0"/>
                  </a:lnTo>
                  <a:lnTo>
                    <a:pt x="364331" y="455413"/>
                  </a:lnTo>
                  <a:lnTo>
                    <a:pt x="0" y="455413"/>
                  </a:lnTo>
                  <a:close/>
                </a:path>
              </a:pathLst>
            </a:custGeom>
            <a:blipFill>
              <a:blip r:embed="rId4">
                <a:alphaModFix amt="0"/>
              </a:blip>
              <a:stretch>
                <a:fillRect l="-110378" r="-110377"/>
              </a:stretch>
            </a:blipFill>
          </p:spPr>
        </p:sp>
        <p:sp>
          <p:nvSpPr>
            <p:cNvPr id="19" name="TextBox 19"/>
            <p:cNvSpPr txBox="1"/>
            <p:nvPr/>
          </p:nvSpPr>
          <p:spPr>
            <a:xfrm>
              <a:off x="0" y="-57150"/>
              <a:ext cx="364325" cy="512559"/>
            </a:xfrm>
            <a:prstGeom prst="rect">
              <a:avLst/>
            </a:prstGeom>
          </p:spPr>
          <p:txBody>
            <a:bodyPr lIns="0" tIns="0" rIns="0" bIns="0" rtlCol="0" anchor="ctr"/>
            <a:lstStyle/>
            <a:p>
              <a:pPr algn="ctr">
                <a:lnSpc>
                  <a:spcPts val="3099"/>
                </a:lnSpc>
              </a:pPr>
              <a:r>
                <a:rPr lang="en-US" sz="2100">
                  <a:solidFill>
                    <a:srgbClr val="000000"/>
                  </a:solidFill>
                  <a:latin typeface="Merriweather"/>
                  <a:ea typeface="Merriweather"/>
                  <a:cs typeface="Merriweather"/>
                  <a:sym typeface="Merriweather"/>
                </a:rPr>
                <a:t>1</a:t>
              </a:r>
            </a:p>
          </p:txBody>
        </p:sp>
      </p:grpSp>
      <p:sp>
        <p:nvSpPr>
          <p:cNvPr id="20" name="TextBox 20"/>
          <p:cNvSpPr txBox="1"/>
          <p:nvPr/>
        </p:nvSpPr>
        <p:spPr>
          <a:xfrm>
            <a:off x="1235421" y="5322684"/>
            <a:ext cx="2847232" cy="365369"/>
          </a:xfrm>
          <a:prstGeom prst="rect">
            <a:avLst/>
          </a:prstGeom>
        </p:spPr>
        <p:txBody>
          <a:bodyPr lIns="0" tIns="0" rIns="0" bIns="0" rtlCol="0" anchor="t">
            <a:spAutoFit/>
          </a:bodyPr>
          <a:lstStyle/>
          <a:p>
            <a:pPr algn="l">
              <a:lnSpc>
                <a:spcPts val="2799"/>
              </a:lnSpc>
            </a:pPr>
            <a:r>
              <a:rPr lang="en-US" sz="2200">
                <a:solidFill>
                  <a:srgbClr val="E2E6E9"/>
                </a:solidFill>
                <a:latin typeface="Merriweather"/>
                <a:ea typeface="Merriweather"/>
                <a:cs typeface="Merriweather"/>
                <a:sym typeface="Merriweather"/>
              </a:rPr>
              <a:t>Model Development</a:t>
            </a:r>
          </a:p>
        </p:txBody>
      </p:sp>
      <p:sp>
        <p:nvSpPr>
          <p:cNvPr id="21" name="TextBox 21"/>
          <p:cNvSpPr txBox="1"/>
          <p:nvPr/>
        </p:nvSpPr>
        <p:spPr>
          <a:xfrm>
            <a:off x="1235421" y="5746109"/>
            <a:ext cx="4802534" cy="1065314"/>
          </a:xfrm>
          <a:prstGeom prst="rect">
            <a:avLst/>
          </a:prstGeom>
        </p:spPr>
        <p:txBody>
          <a:bodyPr lIns="0" tIns="0" rIns="0" bIns="0" rtlCol="0" anchor="t">
            <a:spAutoFit/>
          </a:bodyPr>
          <a:lstStyle/>
          <a:p>
            <a:pPr algn="l">
              <a:lnSpc>
                <a:spcPts val="2600"/>
              </a:lnSpc>
            </a:pPr>
            <a:r>
              <a:rPr lang="en-US" sz="1700">
                <a:solidFill>
                  <a:srgbClr val="E2E6E9"/>
                </a:solidFill>
                <a:latin typeface="Merriweather"/>
                <a:ea typeface="Merriweather"/>
                <a:cs typeface="Merriweather"/>
                <a:sym typeface="Merriweather"/>
              </a:rPr>
              <a:t>Successfully built and validated multiple regression models with strong predictive performance</a:t>
            </a:r>
          </a:p>
        </p:txBody>
      </p:sp>
      <p:grpSp>
        <p:nvGrpSpPr>
          <p:cNvPr id="22" name="Group 22"/>
          <p:cNvGrpSpPr/>
          <p:nvPr/>
        </p:nvGrpSpPr>
        <p:grpSpPr>
          <a:xfrm>
            <a:off x="6472085" y="4748508"/>
            <a:ext cx="5343677" cy="2333482"/>
            <a:chOff x="0" y="0"/>
            <a:chExt cx="7124903" cy="3111310"/>
          </a:xfrm>
        </p:grpSpPr>
        <p:sp>
          <p:nvSpPr>
            <p:cNvPr id="23" name="Freeform 23"/>
            <p:cNvSpPr/>
            <p:nvPr/>
          </p:nvSpPr>
          <p:spPr>
            <a:xfrm>
              <a:off x="0" y="0"/>
              <a:ext cx="7124954" cy="3111373"/>
            </a:xfrm>
            <a:custGeom>
              <a:avLst/>
              <a:gdLst/>
              <a:ahLst/>
              <a:cxnLst/>
              <a:rect l="l" t="t" r="r" b="b"/>
              <a:pathLst>
                <a:path w="7124954" h="3111373">
                  <a:moveTo>
                    <a:pt x="0" y="185166"/>
                  </a:moveTo>
                  <a:cubicBezTo>
                    <a:pt x="0" y="82931"/>
                    <a:pt x="82931" y="0"/>
                    <a:pt x="185166" y="0"/>
                  </a:cubicBezTo>
                  <a:lnTo>
                    <a:pt x="6939788" y="0"/>
                  </a:lnTo>
                  <a:cubicBezTo>
                    <a:pt x="7042023" y="0"/>
                    <a:pt x="7124954" y="82931"/>
                    <a:pt x="7124954" y="185166"/>
                  </a:cubicBezTo>
                  <a:lnTo>
                    <a:pt x="7124954" y="2926207"/>
                  </a:lnTo>
                  <a:cubicBezTo>
                    <a:pt x="7124954" y="3028442"/>
                    <a:pt x="7042023" y="3111373"/>
                    <a:pt x="6939788" y="3111373"/>
                  </a:cubicBezTo>
                  <a:lnTo>
                    <a:pt x="185166" y="3111373"/>
                  </a:lnTo>
                  <a:cubicBezTo>
                    <a:pt x="82931" y="3111246"/>
                    <a:pt x="0" y="3028442"/>
                    <a:pt x="0" y="2926207"/>
                  </a:cubicBezTo>
                  <a:close/>
                </a:path>
              </a:pathLst>
            </a:custGeom>
            <a:solidFill>
              <a:srgbClr val="09151A">
                <a:alpha val="90196"/>
              </a:srgbClr>
            </a:solidFill>
            <a:ln w="28576" cap="sq">
              <a:solidFill>
                <a:srgbClr val="194A99"/>
              </a:solidFill>
              <a:prstDash val="solid"/>
              <a:miter/>
            </a:ln>
          </p:spPr>
        </p:sp>
      </p:grpSp>
      <p:grpSp>
        <p:nvGrpSpPr>
          <p:cNvPr id="24" name="Group 24"/>
          <p:cNvGrpSpPr/>
          <p:nvPr/>
        </p:nvGrpSpPr>
        <p:grpSpPr>
          <a:xfrm>
            <a:off x="6486373" y="4734220"/>
            <a:ext cx="5315102" cy="114300"/>
            <a:chOff x="0" y="0"/>
            <a:chExt cx="7086803" cy="152400"/>
          </a:xfrm>
        </p:grpSpPr>
        <p:sp>
          <p:nvSpPr>
            <p:cNvPr id="25" name="Freeform 25"/>
            <p:cNvSpPr/>
            <p:nvPr/>
          </p:nvSpPr>
          <p:spPr>
            <a:xfrm>
              <a:off x="0" y="0"/>
              <a:ext cx="7086854" cy="152400"/>
            </a:xfrm>
            <a:custGeom>
              <a:avLst/>
              <a:gdLst/>
              <a:ahLst/>
              <a:cxnLst/>
              <a:rect l="l" t="t" r="r" b="b"/>
              <a:pathLst>
                <a:path w="7086854" h="152400">
                  <a:moveTo>
                    <a:pt x="0" y="76200"/>
                  </a:moveTo>
                  <a:cubicBezTo>
                    <a:pt x="0" y="34163"/>
                    <a:pt x="34163" y="0"/>
                    <a:pt x="76200" y="0"/>
                  </a:cubicBezTo>
                  <a:lnTo>
                    <a:pt x="7010654" y="0"/>
                  </a:lnTo>
                  <a:cubicBezTo>
                    <a:pt x="7052691" y="0"/>
                    <a:pt x="7086854" y="34163"/>
                    <a:pt x="7086854" y="76200"/>
                  </a:cubicBezTo>
                  <a:cubicBezTo>
                    <a:pt x="7086854" y="118237"/>
                    <a:pt x="7052691" y="152400"/>
                    <a:pt x="7010654" y="152400"/>
                  </a:cubicBezTo>
                  <a:lnTo>
                    <a:pt x="76200" y="152400"/>
                  </a:lnTo>
                  <a:cubicBezTo>
                    <a:pt x="34163" y="152400"/>
                    <a:pt x="0" y="118237"/>
                    <a:pt x="0" y="76200"/>
                  </a:cubicBezTo>
                  <a:close/>
                </a:path>
              </a:pathLst>
            </a:custGeom>
            <a:solidFill>
              <a:srgbClr val="609DFF"/>
            </a:solidFill>
          </p:spPr>
        </p:sp>
      </p:grpSp>
      <p:grpSp>
        <p:nvGrpSpPr>
          <p:cNvPr id="26" name="Group 26"/>
          <p:cNvGrpSpPr/>
          <p:nvPr/>
        </p:nvGrpSpPr>
        <p:grpSpPr>
          <a:xfrm>
            <a:off x="8802214" y="4421238"/>
            <a:ext cx="683266" cy="683266"/>
            <a:chOff x="0" y="0"/>
            <a:chExt cx="911022" cy="911022"/>
          </a:xfrm>
        </p:grpSpPr>
        <p:sp>
          <p:nvSpPr>
            <p:cNvPr id="27" name="Freeform 27"/>
            <p:cNvSpPr/>
            <p:nvPr/>
          </p:nvSpPr>
          <p:spPr>
            <a:xfrm>
              <a:off x="0" y="0"/>
              <a:ext cx="910971" cy="910971"/>
            </a:xfrm>
            <a:custGeom>
              <a:avLst/>
              <a:gdLst/>
              <a:ahLst/>
              <a:cxnLst/>
              <a:rect l="l" t="t" r="r" b="b"/>
              <a:pathLst>
                <a:path w="910971" h="910971">
                  <a:moveTo>
                    <a:pt x="0" y="455549"/>
                  </a:moveTo>
                  <a:cubicBezTo>
                    <a:pt x="0" y="203962"/>
                    <a:pt x="203962" y="0"/>
                    <a:pt x="455549" y="0"/>
                  </a:cubicBezTo>
                  <a:cubicBezTo>
                    <a:pt x="707136" y="0"/>
                    <a:pt x="910971" y="203962"/>
                    <a:pt x="910971" y="455549"/>
                  </a:cubicBezTo>
                  <a:cubicBezTo>
                    <a:pt x="910971" y="707136"/>
                    <a:pt x="707136" y="910971"/>
                    <a:pt x="455549" y="910971"/>
                  </a:cubicBezTo>
                  <a:cubicBezTo>
                    <a:pt x="203962" y="910971"/>
                    <a:pt x="0" y="707136"/>
                    <a:pt x="0" y="455549"/>
                  </a:cubicBezTo>
                  <a:close/>
                </a:path>
              </a:pathLst>
            </a:custGeom>
            <a:solidFill>
              <a:srgbClr val="609DFF"/>
            </a:solidFill>
          </p:spPr>
        </p:sp>
      </p:grpSp>
      <p:grpSp>
        <p:nvGrpSpPr>
          <p:cNvPr id="28" name="Group 28"/>
          <p:cNvGrpSpPr/>
          <p:nvPr/>
        </p:nvGrpSpPr>
        <p:grpSpPr>
          <a:xfrm>
            <a:off x="9007154" y="4592088"/>
            <a:ext cx="273244" cy="341557"/>
            <a:chOff x="0" y="0"/>
            <a:chExt cx="364325" cy="455409"/>
          </a:xfrm>
        </p:grpSpPr>
        <p:sp>
          <p:nvSpPr>
            <p:cNvPr id="29" name="Freeform 29"/>
            <p:cNvSpPr/>
            <p:nvPr/>
          </p:nvSpPr>
          <p:spPr>
            <a:xfrm>
              <a:off x="0" y="0"/>
              <a:ext cx="364331" cy="455413"/>
            </a:xfrm>
            <a:custGeom>
              <a:avLst/>
              <a:gdLst/>
              <a:ahLst/>
              <a:cxnLst/>
              <a:rect l="l" t="t" r="r" b="b"/>
              <a:pathLst>
                <a:path w="364331" h="455413">
                  <a:moveTo>
                    <a:pt x="0" y="0"/>
                  </a:moveTo>
                  <a:lnTo>
                    <a:pt x="364331" y="0"/>
                  </a:lnTo>
                  <a:lnTo>
                    <a:pt x="364331" y="455413"/>
                  </a:lnTo>
                  <a:lnTo>
                    <a:pt x="0" y="455413"/>
                  </a:lnTo>
                  <a:close/>
                </a:path>
              </a:pathLst>
            </a:custGeom>
            <a:blipFill>
              <a:blip r:embed="rId4">
                <a:alphaModFix amt="0"/>
              </a:blip>
              <a:stretch>
                <a:fillRect l="-110378" r="-110377"/>
              </a:stretch>
            </a:blipFill>
          </p:spPr>
        </p:sp>
        <p:sp>
          <p:nvSpPr>
            <p:cNvPr id="30" name="TextBox 30"/>
            <p:cNvSpPr txBox="1"/>
            <p:nvPr/>
          </p:nvSpPr>
          <p:spPr>
            <a:xfrm>
              <a:off x="0" y="-57150"/>
              <a:ext cx="364325" cy="512559"/>
            </a:xfrm>
            <a:prstGeom prst="rect">
              <a:avLst/>
            </a:prstGeom>
          </p:spPr>
          <p:txBody>
            <a:bodyPr lIns="0" tIns="0" rIns="0" bIns="0" rtlCol="0" anchor="ctr"/>
            <a:lstStyle/>
            <a:p>
              <a:pPr algn="ctr">
                <a:lnSpc>
                  <a:spcPts val="3099"/>
                </a:lnSpc>
              </a:pPr>
              <a:r>
                <a:rPr lang="en-US" sz="2100">
                  <a:solidFill>
                    <a:srgbClr val="000000"/>
                  </a:solidFill>
                  <a:latin typeface="Merriweather"/>
                  <a:ea typeface="Merriweather"/>
                  <a:cs typeface="Merriweather"/>
                  <a:sym typeface="Merriweather"/>
                </a:rPr>
                <a:t>2</a:t>
              </a:r>
            </a:p>
          </p:txBody>
        </p:sp>
      </p:grpSp>
      <p:sp>
        <p:nvSpPr>
          <p:cNvPr id="31" name="TextBox 31"/>
          <p:cNvSpPr txBox="1"/>
          <p:nvPr/>
        </p:nvSpPr>
        <p:spPr>
          <a:xfrm>
            <a:off x="6742661" y="5322684"/>
            <a:ext cx="4656229" cy="342786"/>
          </a:xfrm>
          <a:prstGeom prst="rect">
            <a:avLst/>
          </a:prstGeom>
        </p:spPr>
        <p:txBody>
          <a:bodyPr wrap="square" lIns="0" tIns="0" rIns="0" bIns="0" rtlCol="0" anchor="t">
            <a:spAutoFit/>
          </a:bodyPr>
          <a:lstStyle/>
          <a:p>
            <a:pPr algn="l">
              <a:lnSpc>
                <a:spcPts val="2799"/>
              </a:lnSpc>
            </a:pPr>
            <a:r>
              <a:rPr lang="en-US" sz="2200" dirty="0">
                <a:solidFill>
                  <a:srgbClr val="E2E6E9"/>
                </a:solidFill>
                <a:latin typeface="Merriweather"/>
                <a:ea typeface="Merriweather"/>
                <a:cs typeface="Merriweather"/>
                <a:sym typeface="Merriweather"/>
              </a:rPr>
              <a:t>Technique Comparison</a:t>
            </a:r>
          </a:p>
        </p:txBody>
      </p:sp>
      <p:sp>
        <p:nvSpPr>
          <p:cNvPr id="32" name="TextBox 32"/>
          <p:cNvSpPr txBox="1"/>
          <p:nvPr/>
        </p:nvSpPr>
        <p:spPr>
          <a:xfrm>
            <a:off x="6742662" y="5746109"/>
            <a:ext cx="4802534" cy="729263"/>
          </a:xfrm>
          <a:prstGeom prst="rect">
            <a:avLst/>
          </a:prstGeom>
        </p:spPr>
        <p:txBody>
          <a:bodyPr lIns="0" tIns="0" rIns="0" bIns="0" rtlCol="0" anchor="t">
            <a:spAutoFit/>
          </a:bodyPr>
          <a:lstStyle/>
          <a:p>
            <a:pPr algn="l">
              <a:lnSpc>
                <a:spcPts val="2600"/>
              </a:lnSpc>
            </a:pPr>
            <a:r>
              <a:rPr lang="en-US" sz="1700">
                <a:solidFill>
                  <a:srgbClr val="E2E6E9"/>
                </a:solidFill>
                <a:latin typeface="Merriweather"/>
                <a:ea typeface="Merriweather"/>
                <a:cs typeface="Merriweather"/>
                <a:sym typeface="Merriweather"/>
              </a:rPr>
              <a:t>Compared various methods including linear regression, regularization, and KNN</a:t>
            </a:r>
          </a:p>
        </p:txBody>
      </p:sp>
      <p:grpSp>
        <p:nvGrpSpPr>
          <p:cNvPr id="33" name="Group 33"/>
          <p:cNvGrpSpPr/>
          <p:nvPr/>
        </p:nvGrpSpPr>
        <p:grpSpPr>
          <a:xfrm>
            <a:off x="11979326" y="4748508"/>
            <a:ext cx="5343677" cy="2333482"/>
            <a:chOff x="0" y="0"/>
            <a:chExt cx="7124903" cy="3111310"/>
          </a:xfrm>
        </p:grpSpPr>
        <p:sp>
          <p:nvSpPr>
            <p:cNvPr id="34" name="Freeform 34"/>
            <p:cNvSpPr/>
            <p:nvPr/>
          </p:nvSpPr>
          <p:spPr>
            <a:xfrm>
              <a:off x="0" y="0"/>
              <a:ext cx="7124954" cy="3111373"/>
            </a:xfrm>
            <a:custGeom>
              <a:avLst/>
              <a:gdLst/>
              <a:ahLst/>
              <a:cxnLst/>
              <a:rect l="l" t="t" r="r" b="b"/>
              <a:pathLst>
                <a:path w="7124954" h="3111373">
                  <a:moveTo>
                    <a:pt x="0" y="185166"/>
                  </a:moveTo>
                  <a:cubicBezTo>
                    <a:pt x="0" y="82931"/>
                    <a:pt x="82931" y="0"/>
                    <a:pt x="185166" y="0"/>
                  </a:cubicBezTo>
                  <a:lnTo>
                    <a:pt x="6939788" y="0"/>
                  </a:lnTo>
                  <a:cubicBezTo>
                    <a:pt x="7042023" y="0"/>
                    <a:pt x="7124954" y="82931"/>
                    <a:pt x="7124954" y="185166"/>
                  </a:cubicBezTo>
                  <a:lnTo>
                    <a:pt x="7124954" y="2926207"/>
                  </a:lnTo>
                  <a:cubicBezTo>
                    <a:pt x="7124954" y="3028442"/>
                    <a:pt x="7042023" y="3111373"/>
                    <a:pt x="6939788" y="3111373"/>
                  </a:cubicBezTo>
                  <a:lnTo>
                    <a:pt x="185166" y="3111373"/>
                  </a:lnTo>
                  <a:cubicBezTo>
                    <a:pt x="82931" y="3111246"/>
                    <a:pt x="0" y="3028442"/>
                    <a:pt x="0" y="2926207"/>
                  </a:cubicBezTo>
                  <a:close/>
                </a:path>
              </a:pathLst>
            </a:custGeom>
            <a:solidFill>
              <a:srgbClr val="09151A">
                <a:alpha val="90196"/>
              </a:srgbClr>
            </a:solidFill>
            <a:ln w="28576" cap="sq">
              <a:solidFill>
                <a:srgbClr val="194A99"/>
              </a:solidFill>
              <a:prstDash val="solid"/>
              <a:miter/>
            </a:ln>
          </p:spPr>
        </p:sp>
      </p:grpSp>
      <p:grpSp>
        <p:nvGrpSpPr>
          <p:cNvPr id="35" name="Group 35"/>
          <p:cNvGrpSpPr/>
          <p:nvPr/>
        </p:nvGrpSpPr>
        <p:grpSpPr>
          <a:xfrm>
            <a:off x="11993613" y="4734220"/>
            <a:ext cx="5315102" cy="114300"/>
            <a:chOff x="0" y="0"/>
            <a:chExt cx="7086803" cy="152400"/>
          </a:xfrm>
        </p:grpSpPr>
        <p:sp>
          <p:nvSpPr>
            <p:cNvPr id="36" name="Freeform 36"/>
            <p:cNvSpPr/>
            <p:nvPr/>
          </p:nvSpPr>
          <p:spPr>
            <a:xfrm>
              <a:off x="0" y="0"/>
              <a:ext cx="7086854" cy="152400"/>
            </a:xfrm>
            <a:custGeom>
              <a:avLst/>
              <a:gdLst/>
              <a:ahLst/>
              <a:cxnLst/>
              <a:rect l="l" t="t" r="r" b="b"/>
              <a:pathLst>
                <a:path w="7086854" h="152400">
                  <a:moveTo>
                    <a:pt x="0" y="76200"/>
                  </a:moveTo>
                  <a:cubicBezTo>
                    <a:pt x="0" y="34163"/>
                    <a:pt x="34163" y="0"/>
                    <a:pt x="76200" y="0"/>
                  </a:cubicBezTo>
                  <a:lnTo>
                    <a:pt x="7010654" y="0"/>
                  </a:lnTo>
                  <a:cubicBezTo>
                    <a:pt x="7052691" y="0"/>
                    <a:pt x="7086854" y="34163"/>
                    <a:pt x="7086854" y="76200"/>
                  </a:cubicBezTo>
                  <a:cubicBezTo>
                    <a:pt x="7086854" y="118237"/>
                    <a:pt x="7052691" y="152400"/>
                    <a:pt x="7010654" y="152400"/>
                  </a:cubicBezTo>
                  <a:lnTo>
                    <a:pt x="76200" y="152400"/>
                  </a:lnTo>
                  <a:cubicBezTo>
                    <a:pt x="34163" y="152400"/>
                    <a:pt x="0" y="118237"/>
                    <a:pt x="0" y="76200"/>
                  </a:cubicBezTo>
                  <a:close/>
                </a:path>
              </a:pathLst>
            </a:custGeom>
            <a:solidFill>
              <a:srgbClr val="609DFF"/>
            </a:solidFill>
          </p:spPr>
        </p:sp>
      </p:grpSp>
      <p:grpSp>
        <p:nvGrpSpPr>
          <p:cNvPr id="37" name="Group 37"/>
          <p:cNvGrpSpPr/>
          <p:nvPr/>
        </p:nvGrpSpPr>
        <p:grpSpPr>
          <a:xfrm>
            <a:off x="14309455" y="4421238"/>
            <a:ext cx="683266" cy="683266"/>
            <a:chOff x="0" y="0"/>
            <a:chExt cx="911022" cy="911022"/>
          </a:xfrm>
        </p:grpSpPr>
        <p:sp>
          <p:nvSpPr>
            <p:cNvPr id="38" name="Freeform 38"/>
            <p:cNvSpPr/>
            <p:nvPr/>
          </p:nvSpPr>
          <p:spPr>
            <a:xfrm>
              <a:off x="0" y="0"/>
              <a:ext cx="910971" cy="910971"/>
            </a:xfrm>
            <a:custGeom>
              <a:avLst/>
              <a:gdLst/>
              <a:ahLst/>
              <a:cxnLst/>
              <a:rect l="l" t="t" r="r" b="b"/>
              <a:pathLst>
                <a:path w="910971" h="910971">
                  <a:moveTo>
                    <a:pt x="0" y="455549"/>
                  </a:moveTo>
                  <a:cubicBezTo>
                    <a:pt x="0" y="203962"/>
                    <a:pt x="203962" y="0"/>
                    <a:pt x="455549" y="0"/>
                  </a:cubicBezTo>
                  <a:cubicBezTo>
                    <a:pt x="707136" y="0"/>
                    <a:pt x="910971" y="203962"/>
                    <a:pt x="910971" y="455549"/>
                  </a:cubicBezTo>
                  <a:cubicBezTo>
                    <a:pt x="910971" y="707136"/>
                    <a:pt x="707136" y="910971"/>
                    <a:pt x="455549" y="910971"/>
                  </a:cubicBezTo>
                  <a:cubicBezTo>
                    <a:pt x="203962" y="910971"/>
                    <a:pt x="0" y="707136"/>
                    <a:pt x="0" y="455549"/>
                  </a:cubicBezTo>
                  <a:close/>
                </a:path>
              </a:pathLst>
            </a:custGeom>
            <a:solidFill>
              <a:srgbClr val="609DFF"/>
            </a:solidFill>
          </p:spPr>
        </p:sp>
      </p:grpSp>
      <p:grpSp>
        <p:nvGrpSpPr>
          <p:cNvPr id="39" name="Group 39"/>
          <p:cNvGrpSpPr/>
          <p:nvPr/>
        </p:nvGrpSpPr>
        <p:grpSpPr>
          <a:xfrm>
            <a:off x="14514386" y="4592088"/>
            <a:ext cx="273244" cy="341557"/>
            <a:chOff x="0" y="0"/>
            <a:chExt cx="364325" cy="455409"/>
          </a:xfrm>
        </p:grpSpPr>
        <p:sp>
          <p:nvSpPr>
            <p:cNvPr id="40" name="Freeform 40"/>
            <p:cNvSpPr/>
            <p:nvPr/>
          </p:nvSpPr>
          <p:spPr>
            <a:xfrm>
              <a:off x="0" y="0"/>
              <a:ext cx="364331" cy="455413"/>
            </a:xfrm>
            <a:custGeom>
              <a:avLst/>
              <a:gdLst/>
              <a:ahLst/>
              <a:cxnLst/>
              <a:rect l="l" t="t" r="r" b="b"/>
              <a:pathLst>
                <a:path w="364331" h="455413">
                  <a:moveTo>
                    <a:pt x="0" y="0"/>
                  </a:moveTo>
                  <a:lnTo>
                    <a:pt x="364331" y="0"/>
                  </a:lnTo>
                  <a:lnTo>
                    <a:pt x="364331" y="455413"/>
                  </a:lnTo>
                  <a:lnTo>
                    <a:pt x="0" y="455413"/>
                  </a:lnTo>
                  <a:close/>
                </a:path>
              </a:pathLst>
            </a:custGeom>
            <a:blipFill>
              <a:blip r:embed="rId4">
                <a:alphaModFix amt="0"/>
              </a:blip>
              <a:stretch>
                <a:fillRect l="-110378" r="-110377"/>
              </a:stretch>
            </a:blipFill>
          </p:spPr>
        </p:sp>
        <p:sp>
          <p:nvSpPr>
            <p:cNvPr id="41" name="TextBox 41"/>
            <p:cNvSpPr txBox="1"/>
            <p:nvPr/>
          </p:nvSpPr>
          <p:spPr>
            <a:xfrm>
              <a:off x="0" y="-57150"/>
              <a:ext cx="364325" cy="512559"/>
            </a:xfrm>
            <a:prstGeom prst="rect">
              <a:avLst/>
            </a:prstGeom>
          </p:spPr>
          <p:txBody>
            <a:bodyPr lIns="0" tIns="0" rIns="0" bIns="0" rtlCol="0" anchor="ctr"/>
            <a:lstStyle/>
            <a:p>
              <a:pPr algn="ctr">
                <a:lnSpc>
                  <a:spcPts val="3099"/>
                </a:lnSpc>
              </a:pPr>
              <a:r>
                <a:rPr lang="en-US" sz="2100">
                  <a:solidFill>
                    <a:srgbClr val="000000"/>
                  </a:solidFill>
                  <a:latin typeface="Merriweather"/>
                  <a:ea typeface="Merriweather"/>
                  <a:cs typeface="Merriweather"/>
                  <a:sym typeface="Merriweather"/>
                </a:rPr>
                <a:t>3</a:t>
              </a:r>
            </a:p>
          </p:txBody>
        </p:sp>
      </p:grpSp>
      <p:sp>
        <p:nvSpPr>
          <p:cNvPr id="42" name="TextBox 42"/>
          <p:cNvSpPr txBox="1"/>
          <p:nvPr/>
        </p:nvSpPr>
        <p:spPr>
          <a:xfrm>
            <a:off x="12249892" y="5322685"/>
            <a:ext cx="4209307" cy="342786"/>
          </a:xfrm>
          <a:prstGeom prst="rect">
            <a:avLst/>
          </a:prstGeom>
        </p:spPr>
        <p:txBody>
          <a:bodyPr wrap="square" lIns="0" tIns="0" rIns="0" bIns="0" rtlCol="0" anchor="t">
            <a:spAutoFit/>
          </a:bodyPr>
          <a:lstStyle/>
          <a:p>
            <a:pPr algn="l">
              <a:lnSpc>
                <a:spcPts val="2799"/>
              </a:lnSpc>
            </a:pPr>
            <a:r>
              <a:rPr lang="en-US" sz="2200" dirty="0">
                <a:solidFill>
                  <a:srgbClr val="E2E6E9"/>
                </a:solidFill>
                <a:latin typeface="Merriweather"/>
                <a:ea typeface="Merriweather"/>
                <a:cs typeface="Merriweather"/>
                <a:sym typeface="Merriweather"/>
              </a:rPr>
              <a:t>Practical Application</a:t>
            </a:r>
          </a:p>
        </p:txBody>
      </p:sp>
      <p:sp>
        <p:nvSpPr>
          <p:cNvPr id="43" name="TextBox 43"/>
          <p:cNvSpPr txBox="1"/>
          <p:nvPr/>
        </p:nvSpPr>
        <p:spPr>
          <a:xfrm>
            <a:off x="12249893" y="5746109"/>
            <a:ext cx="4802534" cy="1065314"/>
          </a:xfrm>
          <a:prstGeom prst="rect">
            <a:avLst/>
          </a:prstGeom>
        </p:spPr>
        <p:txBody>
          <a:bodyPr lIns="0" tIns="0" rIns="0" bIns="0" rtlCol="0" anchor="t">
            <a:spAutoFit/>
          </a:bodyPr>
          <a:lstStyle/>
          <a:p>
            <a:pPr algn="l">
              <a:lnSpc>
                <a:spcPts val="2600"/>
              </a:lnSpc>
            </a:pPr>
            <a:r>
              <a:rPr lang="en-US" sz="1700" dirty="0">
                <a:solidFill>
                  <a:srgbClr val="E2E6E9"/>
                </a:solidFill>
                <a:latin typeface="Merriweather"/>
                <a:ea typeface="Merriweather"/>
                <a:cs typeface="Merriweather"/>
                <a:sym typeface="Merriweather"/>
              </a:rPr>
              <a:t>Results provide actionable insights for hosts and customers in the Airbnb marketplace</a:t>
            </a:r>
          </a:p>
        </p:txBody>
      </p:sp>
      <p:sp>
        <p:nvSpPr>
          <p:cNvPr id="44" name="TextBox 44"/>
          <p:cNvSpPr txBox="1"/>
          <p:nvPr/>
        </p:nvSpPr>
        <p:spPr>
          <a:xfrm>
            <a:off x="979141" y="7336927"/>
            <a:ext cx="4744193" cy="446189"/>
          </a:xfrm>
          <a:prstGeom prst="rect">
            <a:avLst/>
          </a:prstGeom>
        </p:spPr>
        <p:txBody>
          <a:bodyPr lIns="0" tIns="0" rIns="0" bIns="0" rtlCol="0" anchor="t">
            <a:spAutoFit/>
          </a:bodyPr>
          <a:lstStyle/>
          <a:p>
            <a:pPr algn="l">
              <a:lnSpc>
                <a:spcPts val="3300"/>
              </a:lnSpc>
            </a:pPr>
            <a:r>
              <a:rPr lang="en-US" sz="2600">
                <a:solidFill>
                  <a:srgbClr val="F5F0F0"/>
                </a:solidFill>
                <a:latin typeface="Merriweather"/>
                <a:ea typeface="Merriweather"/>
                <a:cs typeface="Merriweather"/>
                <a:sym typeface="Merriweather"/>
              </a:rPr>
              <a:t>Limitations and Future Work</a:t>
            </a:r>
          </a:p>
        </p:txBody>
      </p:sp>
      <p:sp>
        <p:nvSpPr>
          <p:cNvPr id="45" name="TextBox 45"/>
          <p:cNvSpPr txBox="1"/>
          <p:nvPr/>
        </p:nvSpPr>
        <p:spPr>
          <a:xfrm>
            <a:off x="979141" y="8014249"/>
            <a:ext cx="16329717" cy="1602734"/>
          </a:xfrm>
          <a:prstGeom prst="rect">
            <a:avLst/>
          </a:prstGeom>
        </p:spPr>
        <p:txBody>
          <a:bodyPr lIns="0" tIns="0" rIns="0" bIns="0" rtlCol="0" anchor="t">
            <a:spAutoFit/>
          </a:bodyPr>
          <a:lstStyle/>
          <a:p>
            <a:pPr marL="410210" lvl="1" indent="-205105" algn="l">
              <a:lnSpc>
                <a:spcPts val="2600"/>
              </a:lnSpc>
              <a:buFont typeface="Arial"/>
              <a:buChar char="•"/>
            </a:pPr>
            <a:r>
              <a:rPr lang="en-US" sz="1700">
                <a:solidFill>
                  <a:srgbClr val="E2E6E9"/>
                </a:solidFill>
                <a:latin typeface="Merriweather"/>
                <a:ea typeface="Merriweather"/>
                <a:cs typeface="Merriweather"/>
                <a:sym typeface="Merriweather"/>
              </a:rPr>
              <a:t>Removal of missing values may lead to information loss</a:t>
            </a:r>
          </a:p>
          <a:p>
            <a:pPr marL="410210" lvl="1" indent="-205105" algn="l">
              <a:lnSpc>
                <a:spcPts val="2600"/>
              </a:lnSpc>
              <a:buFont typeface="Arial"/>
              <a:buChar char="•"/>
            </a:pPr>
            <a:r>
              <a:rPr lang="en-US" sz="1700">
                <a:solidFill>
                  <a:srgbClr val="E2E6E9"/>
                </a:solidFill>
                <a:latin typeface="Merriweather"/>
                <a:ea typeface="Merriweather"/>
                <a:cs typeface="Merriweather"/>
                <a:sym typeface="Merriweather"/>
              </a:rPr>
              <a:t>High-cardinality categorical variables were simplified</a:t>
            </a:r>
          </a:p>
          <a:p>
            <a:pPr marL="410210" lvl="1" indent="-205105" algn="l">
              <a:lnSpc>
                <a:spcPts val="2600"/>
              </a:lnSpc>
              <a:buFont typeface="Arial"/>
              <a:buChar char="•"/>
            </a:pPr>
            <a:r>
              <a:rPr lang="en-US" sz="1700">
                <a:solidFill>
                  <a:srgbClr val="E2E6E9"/>
                </a:solidFill>
                <a:latin typeface="Merriweather"/>
                <a:ea typeface="Merriweather"/>
                <a:cs typeface="Merriweather"/>
                <a:sym typeface="Merriweather"/>
              </a:rPr>
              <a:t>External factors such as seasonality were not included</a:t>
            </a:r>
          </a:p>
          <a:p>
            <a:pPr marL="410210" lvl="1" indent="-205105" algn="l">
              <a:lnSpc>
                <a:spcPts val="2600"/>
              </a:lnSpc>
              <a:buFont typeface="Arial"/>
              <a:buChar char="•"/>
            </a:pPr>
            <a:r>
              <a:rPr lang="en-US" sz="1700">
                <a:solidFill>
                  <a:srgbClr val="E2E6E9"/>
                </a:solidFill>
                <a:latin typeface="Merriweather"/>
                <a:ea typeface="Merriweather"/>
                <a:cs typeface="Merriweather"/>
                <a:sym typeface="Merriweather"/>
              </a:rPr>
              <a:t>Future research could incorporate temporal patterns and demand forecasting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1180</Words>
  <Application>Microsoft Office PowerPoint</Application>
  <PresentationFormat>Custom</PresentationFormat>
  <Paragraphs>164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Merriweather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Predicting-Airbnb-Listing-Prices-Using-Regression-and-Regularization-Techniques.pptx</dc:title>
  <cp:lastModifiedBy>jayani das</cp:lastModifiedBy>
  <cp:revision>2</cp:revision>
  <dcterms:created xsi:type="dcterms:W3CDTF">2006-08-16T00:00:00Z</dcterms:created>
  <dcterms:modified xsi:type="dcterms:W3CDTF">2026-05-08T17:49:45Z</dcterms:modified>
  <dc:identifier>DAHJGbgbTx0</dc:identifier>
</cp:coreProperties>
</file>